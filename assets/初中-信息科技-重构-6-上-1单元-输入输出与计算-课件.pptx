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mp3" ContentType="audio/mp3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4"/>
  </p:handoutMasterIdLst>
  <p:sldIdLst>
    <p:sldId id="282" r:id="rId3"/>
    <p:sldId id="442" r:id="rId5"/>
    <p:sldId id="395" r:id="rId6"/>
    <p:sldId id="323" r:id="rId7"/>
    <p:sldId id="432" r:id="rId8"/>
    <p:sldId id="324" r:id="rId9"/>
    <p:sldId id="433" r:id="rId10"/>
    <p:sldId id="434" r:id="rId11"/>
    <p:sldId id="441" r:id="rId12"/>
    <p:sldId id="436" r:id="rId13"/>
    <p:sldId id="437" r:id="rId14"/>
    <p:sldId id="438" r:id="rId15"/>
    <p:sldId id="439" r:id="rId16"/>
    <p:sldId id="327" r:id="rId17"/>
    <p:sldId id="398" r:id="rId18"/>
    <p:sldId id="375" r:id="rId19"/>
    <p:sldId id="377" r:id="rId20"/>
    <p:sldId id="378" r:id="rId21"/>
    <p:sldId id="331" r:id="rId22"/>
    <p:sldId id="332" r:id="rId23"/>
    <p:sldId id="400" r:id="rId24"/>
    <p:sldId id="381" r:id="rId25"/>
    <p:sldId id="382" r:id="rId26"/>
    <p:sldId id="385" r:id="rId27"/>
    <p:sldId id="415" r:id="rId28"/>
    <p:sldId id="383" r:id="rId29"/>
    <p:sldId id="347" r:id="rId30"/>
    <p:sldId id="401" r:id="rId31"/>
    <p:sldId id="393" r:id="rId32"/>
    <p:sldId id="394" r:id="rId33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9" userDrawn="1">
          <p15:clr>
            <a:srgbClr val="A4A3A4"/>
          </p15:clr>
        </p15:guide>
        <p15:guide id="2" pos="724" userDrawn="1">
          <p15:clr>
            <a:srgbClr val="A4A3A4"/>
          </p15:clr>
        </p15:guide>
        <p15:guide id="3" pos="7124" userDrawn="1">
          <p15:clr>
            <a:srgbClr val="A4A3A4"/>
          </p15:clr>
        </p15:guide>
        <p15:guide id="4" orient="horz" pos="5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uhui" initials="l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0000"/>
    <a:srgbClr val="5B564A"/>
    <a:srgbClr val="DED1B5"/>
    <a:srgbClr val="3B5643"/>
    <a:srgbClr val="1784AD"/>
    <a:srgbClr val="014E6A"/>
    <a:srgbClr val="AE0203"/>
    <a:srgbClr val="711000"/>
    <a:srgbClr val="01431D"/>
    <a:srgbClr val="0162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31" autoAdjust="0"/>
    <p:restoredTop sz="64142" autoAdjust="0"/>
  </p:normalViewPr>
  <p:slideViewPr>
    <p:cSldViewPr showGuides="1">
      <p:cViewPr>
        <p:scale>
          <a:sx n="75" d="100"/>
          <a:sy n="75" d="100"/>
        </p:scale>
        <p:origin x="762" y="1416"/>
      </p:cViewPr>
      <p:guideLst>
        <p:guide orient="horz" pos="3979"/>
        <p:guide pos="724"/>
        <p:guide pos="7124"/>
        <p:guide orient="horz" pos="536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66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gs" Target="tags/tag102.xml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5FAC0-4E78-4B4A-9ADA-EE7413CBA2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8E8FE-40DA-41DC-AE77-8790382988A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A302A-66E2-45C0-9113-4E5747328F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kern="100" noProof="0" dirty="0">
              <a:ln>
                <a:noFill/>
              </a:ln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kern="100" noProof="0" dirty="0">
              <a:ln>
                <a:noFill/>
              </a:ln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07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</p:txBody>
      </p:sp>
      <p:sp>
        <p:nvSpPr>
          <p:cNvPr id="122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50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40E3B-F9C0-48B6-A129-4D327DD306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A6CA-0CF8-4C0F-A4EF-5C6C0D45FA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A902-E013-4FF5-9CBD-78113C7840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3079" y="2830103"/>
            <a:ext cx="409575" cy="466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31800" y="365125"/>
            <a:ext cx="2133600" cy="714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9456234" y="256478"/>
            <a:ext cx="2453268" cy="512956"/>
          </a:xfrm>
          <a:prstGeom prst="rect">
            <a:avLst/>
          </a:prstGeom>
          <a:solidFill>
            <a:srgbClr val="3A5542"/>
          </a:solidFill>
          <a:ln>
            <a:solidFill>
              <a:srgbClr val="3B56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404037"/>
            <a:ext cx="12192000" cy="620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500839" y="345688"/>
            <a:ext cx="2297151" cy="401444"/>
          </a:xfrm>
          <a:prstGeom prst="rect">
            <a:avLst/>
          </a:prstGeom>
          <a:solidFill>
            <a:srgbClr val="3A5542"/>
          </a:solidFill>
          <a:ln>
            <a:solidFill>
              <a:srgbClr val="3B56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404037"/>
            <a:ext cx="12192000" cy="6202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A6CA-0CF8-4C0F-A4EF-5C6C0D45FA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A902-E013-4FF5-9CBD-78113C7840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3079" y="2830103"/>
            <a:ext cx="409575" cy="4667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431800" y="365125"/>
            <a:ext cx="2133600" cy="714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宋体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017000" y="160338"/>
            <a:ext cx="2933700" cy="630238"/>
          </a:xfrm>
          <a:prstGeom prst="rect">
            <a:avLst/>
          </a:prstGeom>
          <a:solidFill>
            <a:srgbClr val="3B5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国家中小学课程资源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534EFFD-6D44-4ECD-B519-FB00E76FFEE2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017000" y="159615"/>
            <a:ext cx="2932931" cy="630381"/>
          </a:xfrm>
          <a:prstGeom prst="rect">
            <a:avLst/>
          </a:prstGeom>
          <a:solidFill>
            <a:srgbClr val="3B5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国家中小学课程资源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1.jpe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5A6CA-0CF8-4C0F-A4EF-5C6C0D45FA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8A902-E013-4FF5-9CBD-78113C78402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9" Type="http://schemas.microsoft.com/office/2007/relationships/media" Target="../media/media3.mp3"/><Relationship Id="rId8" Type="http://schemas.openxmlformats.org/officeDocument/2006/relationships/audio" Target="../media/media3.mp3"/><Relationship Id="rId7" Type="http://schemas.microsoft.com/office/2007/relationships/media" Target="../media/media2.mp3"/><Relationship Id="rId6" Type="http://schemas.openxmlformats.org/officeDocument/2006/relationships/audio" Target="../media/media2.mp3"/><Relationship Id="rId5" Type="http://schemas.openxmlformats.org/officeDocument/2006/relationships/image" Target="../media/image6.png"/><Relationship Id="rId4" Type="http://schemas.microsoft.com/office/2007/relationships/media" Target="../media/media1.mp3"/><Relationship Id="rId3" Type="http://schemas.openxmlformats.org/officeDocument/2006/relationships/audio" Target="../media/media1.mp3"/><Relationship Id="rId2" Type="http://schemas.openxmlformats.org/officeDocument/2006/relationships/image" Target="../media/image5.pn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9.jpeg"/><Relationship Id="rId13" Type="http://schemas.openxmlformats.org/officeDocument/2006/relationships/image" Target="../media/image8.png"/><Relationship Id="rId12" Type="http://schemas.openxmlformats.org/officeDocument/2006/relationships/image" Target="../media/image7.png"/><Relationship Id="rId11" Type="http://schemas.microsoft.com/office/2007/relationships/media" Target="../media/media4.mp3"/><Relationship Id="rId10" Type="http://schemas.openxmlformats.org/officeDocument/2006/relationships/audio" Target="../media/media4.mp3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microsoft.com/office/2007/relationships/media" Target="../media/media6.mp3"/><Relationship Id="rId8" Type="http://schemas.openxmlformats.org/officeDocument/2006/relationships/audio" Target="NULL" TargetMode="External"/><Relationship Id="rId7" Type="http://schemas.openxmlformats.org/officeDocument/2006/relationships/image" Target="../media/image6.png"/><Relationship Id="rId6" Type="http://schemas.microsoft.com/office/2007/relationships/media" Target="../media/media5.mp3"/><Relationship Id="rId5" Type="http://schemas.openxmlformats.org/officeDocument/2006/relationships/audio" Target="../media/media5.mp3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7.xml.rels><?xml version="1.0" encoding="UTF-8" standalone="yes"?>
<Relationships xmlns="http://schemas.openxmlformats.org/package/2006/relationships"><Relationship Id="rId9" Type="http://schemas.microsoft.com/office/2007/relationships/media" Target="../media/media8.mp3"/><Relationship Id="rId8" Type="http://schemas.openxmlformats.org/officeDocument/2006/relationships/audio" Target="../media/media8.mp3"/><Relationship Id="rId7" Type="http://schemas.openxmlformats.org/officeDocument/2006/relationships/image" Target="../media/image6.png"/><Relationship Id="rId6" Type="http://schemas.microsoft.com/office/2007/relationships/media" Target="../media/media7.mp3"/><Relationship Id="rId5" Type="http://schemas.openxmlformats.org/officeDocument/2006/relationships/audio" Target="../media/media7.mp3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2.xml"/><Relationship Id="rId11" Type="http://schemas.microsoft.com/office/2007/relationships/media" Target="../media/media6.mp3"/><Relationship Id="rId10" Type="http://schemas.openxmlformats.org/officeDocument/2006/relationships/audio" Target="NULL" TargetMode="External"/><Relationship Id="rId1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microsoft.com/office/2007/relationships/media" Target="../media/media9.mp3"/><Relationship Id="rId6" Type="http://schemas.openxmlformats.org/officeDocument/2006/relationships/audio" Target="../media/media9.mp3"/><Relationship Id="rId5" Type="http://schemas.openxmlformats.org/officeDocument/2006/relationships/image" Target="../media/image6.png"/><Relationship Id="rId4" Type="http://schemas.microsoft.com/office/2007/relationships/media" Target="../media/media6.mp3"/><Relationship Id="rId3" Type="http://schemas.openxmlformats.org/officeDocument/2006/relationships/audio" Target="NULL" TargetMode="External"/><Relationship Id="rId2" Type="http://schemas.openxmlformats.org/officeDocument/2006/relationships/image" Target="../media/image13.pn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.png"/><Relationship Id="rId1" Type="http://schemas.openxmlformats.org/officeDocument/2006/relationships/tags" Target="../tags/tag2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6.png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microsoft.com/office/2007/relationships/media" Target="../media/media6.mp3"/><Relationship Id="rId3" Type="http://schemas.openxmlformats.org/officeDocument/2006/relationships/audio" Target="NULL" TargetMode="External"/><Relationship Id="rId2" Type="http://schemas.openxmlformats.org/officeDocument/2006/relationships/tags" Target="../tags/tag23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9" Type="http://schemas.microsoft.com/office/2007/relationships/media" Target="../media/media11.mp3"/><Relationship Id="rId8" Type="http://schemas.openxmlformats.org/officeDocument/2006/relationships/audio" Target="../media/media11.mp3"/><Relationship Id="rId7" Type="http://schemas.microsoft.com/office/2007/relationships/media" Target="../media/media10.mp3"/><Relationship Id="rId6" Type="http://schemas.openxmlformats.org/officeDocument/2006/relationships/audio" Target="../media/media10.mp3"/><Relationship Id="rId5" Type="http://schemas.openxmlformats.org/officeDocument/2006/relationships/image" Target="../media/image6.png"/><Relationship Id="rId4" Type="http://schemas.microsoft.com/office/2007/relationships/media" Target="../media/media6.mp3"/><Relationship Id="rId3" Type="http://schemas.openxmlformats.org/officeDocument/2006/relationships/audio" Target="NULL" TargetMode="External"/><Relationship Id="rId2" Type="http://schemas.openxmlformats.org/officeDocument/2006/relationships/tags" Target="../tags/tag24.xml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6.png"/><Relationship Id="rId12" Type="http://schemas.openxmlformats.org/officeDocument/2006/relationships/image" Target="../media/image17.png"/><Relationship Id="rId11" Type="http://schemas.microsoft.com/office/2007/relationships/media" Target="../media/media12.mp3"/><Relationship Id="rId10" Type="http://schemas.openxmlformats.org/officeDocument/2006/relationships/audio" Target="../media/media12.mp3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audio" Target="../media/media12.mp3"/><Relationship Id="rId8" Type="http://schemas.microsoft.com/office/2007/relationships/media" Target="../media/media11.mp3"/><Relationship Id="rId7" Type="http://schemas.openxmlformats.org/officeDocument/2006/relationships/audio" Target="../media/media11.mp3"/><Relationship Id="rId6" Type="http://schemas.microsoft.com/office/2007/relationships/media" Target="../media/media10.mp3"/><Relationship Id="rId5" Type="http://schemas.openxmlformats.org/officeDocument/2006/relationships/audio" Target="../media/media10.mp3"/><Relationship Id="rId4" Type="http://schemas.openxmlformats.org/officeDocument/2006/relationships/image" Target="../media/image6.png"/><Relationship Id="rId3" Type="http://schemas.microsoft.com/office/2007/relationships/media" Target="../media/media6.mp3"/><Relationship Id="rId2" Type="http://schemas.openxmlformats.org/officeDocument/2006/relationships/audio" Target="NULL" TargetMode="External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9.png"/><Relationship Id="rId11" Type="http://schemas.openxmlformats.org/officeDocument/2006/relationships/image" Target="../media/image18.png"/><Relationship Id="rId10" Type="http://schemas.microsoft.com/office/2007/relationships/media" Target="../media/media12.mp3"/><Relationship Id="rId1" Type="http://schemas.openxmlformats.org/officeDocument/2006/relationships/tags" Target="../tags/tag2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audio" Target="../media/media12.mp3"/><Relationship Id="rId8" Type="http://schemas.microsoft.com/office/2007/relationships/media" Target="../media/media11.mp3"/><Relationship Id="rId7" Type="http://schemas.openxmlformats.org/officeDocument/2006/relationships/audio" Target="../media/media11.mp3"/><Relationship Id="rId6" Type="http://schemas.microsoft.com/office/2007/relationships/media" Target="../media/media10.mp3"/><Relationship Id="rId5" Type="http://schemas.openxmlformats.org/officeDocument/2006/relationships/audio" Target="../media/media10.mp3"/><Relationship Id="rId4" Type="http://schemas.openxmlformats.org/officeDocument/2006/relationships/image" Target="../media/image6.png"/><Relationship Id="rId3" Type="http://schemas.microsoft.com/office/2007/relationships/media" Target="../media/media6.mp3"/><Relationship Id="rId2" Type="http://schemas.openxmlformats.org/officeDocument/2006/relationships/audio" Target="NULL" TargetMode="Externa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9.jpeg"/><Relationship Id="rId11" Type="http://schemas.openxmlformats.org/officeDocument/2006/relationships/image" Target="../media/image20.png"/><Relationship Id="rId10" Type="http://schemas.microsoft.com/office/2007/relationships/media" Target="../media/media12.mp3"/><Relationship Id="rId1" Type="http://schemas.openxmlformats.org/officeDocument/2006/relationships/tags" Target="../tags/tag26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media" Target="../media/media13.mp3"/><Relationship Id="rId3" Type="http://schemas.openxmlformats.org/officeDocument/2006/relationships/audio" Target="../media/media13.mp3"/><Relationship Id="rId2" Type="http://schemas.openxmlformats.org/officeDocument/2006/relationships/image" Target="../media/image21.png"/><Relationship Id="rId1" Type="http://schemas.openxmlformats.org/officeDocument/2006/relationships/tags" Target="../tags/tag27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tags" Target="../tags/tag3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microsoft.com/office/2007/relationships/media" Target="../media/media6.mp3"/><Relationship Id="rId5" Type="http://schemas.openxmlformats.org/officeDocument/2006/relationships/audio" Target="NULL" TargetMode="External"/><Relationship Id="rId4" Type="http://schemas.openxmlformats.org/officeDocument/2006/relationships/image" Target="../media/image6.png"/><Relationship Id="rId3" Type="http://schemas.microsoft.com/office/2007/relationships/media" Target="../media/media14.mp3"/><Relationship Id="rId2" Type="http://schemas.openxmlformats.org/officeDocument/2006/relationships/audio" Target="../media/media14.mp3"/><Relationship Id="rId13" Type="http://schemas.openxmlformats.org/officeDocument/2006/relationships/notesSlide" Target="../notesSlides/notesSlide17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25.png"/><Relationship Id="rId10" Type="http://schemas.openxmlformats.org/officeDocument/2006/relationships/tags" Target="../tags/tag40.xml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audio" Target="../media/media17.mp3"/><Relationship Id="rId8" Type="http://schemas.microsoft.com/office/2007/relationships/media" Target="../media/media16.mp3"/><Relationship Id="rId7" Type="http://schemas.openxmlformats.org/officeDocument/2006/relationships/audio" Target="../media/media16.mp3"/><Relationship Id="rId6" Type="http://schemas.openxmlformats.org/officeDocument/2006/relationships/image" Target="../media/image6.png"/><Relationship Id="rId5" Type="http://schemas.microsoft.com/office/2007/relationships/media" Target="../media/media15.mp3"/><Relationship Id="rId4" Type="http://schemas.openxmlformats.org/officeDocument/2006/relationships/audio" Target="../media/media15.mp3"/><Relationship Id="rId3" Type="http://schemas.openxmlformats.org/officeDocument/2006/relationships/tags" Target="../tags/tag42.xml"/><Relationship Id="rId2" Type="http://schemas.openxmlformats.org/officeDocument/2006/relationships/image" Target="../media/image26.png"/><Relationship Id="rId18" Type="http://schemas.openxmlformats.org/officeDocument/2006/relationships/notesSlide" Target="../notesSlides/notesSlide18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8.png"/><Relationship Id="rId15" Type="http://schemas.openxmlformats.org/officeDocument/2006/relationships/image" Target="../media/image7.png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microsoft.com/office/2007/relationships/media" Target="../media/media17.mp3"/><Relationship Id="rId1" Type="http://schemas.openxmlformats.org/officeDocument/2006/relationships/tags" Target="../tags/tag4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6" Type="http://schemas.openxmlformats.org/officeDocument/2006/relationships/notesSlide" Target="../notesSlides/notesSlide19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9.jpeg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6" Type="http://schemas.openxmlformats.org/officeDocument/2006/relationships/notesSlide" Target="../notesSlides/notesSlide22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8.png"/><Relationship Id="rId13" Type="http://schemas.openxmlformats.org/officeDocument/2006/relationships/image" Target="../media/image6.png"/><Relationship Id="rId12" Type="http://schemas.microsoft.com/office/2007/relationships/media" Target="../media/media18.mp3"/><Relationship Id="rId11" Type="http://schemas.openxmlformats.org/officeDocument/2006/relationships/audio" Target="../media/media18.mp3"/><Relationship Id="rId10" Type="http://schemas.openxmlformats.org/officeDocument/2006/relationships/tags" Target="../tags/tag77.xml"/><Relationship Id="rId1" Type="http://schemas.openxmlformats.org/officeDocument/2006/relationships/tags" Target="../tags/tag69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audio" Target="../media/media20.mp3"/><Relationship Id="rId8" Type="http://schemas.microsoft.com/office/2007/relationships/media" Target="../media/media19.mp3"/><Relationship Id="rId7" Type="http://schemas.openxmlformats.org/officeDocument/2006/relationships/audio" Target="../media/media19.mp3"/><Relationship Id="rId6" Type="http://schemas.openxmlformats.org/officeDocument/2006/relationships/image" Target="../media/image30.png"/><Relationship Id="rId5" Type="http://schemas.openxmlformats.org/officeDocument/2006/relationships/image" Target="../media/image28.png"/><Relationship Id="rId4" Type="http://schemas.openxmlformats.org/officeDocument/2006/relationships/image" Target="../media/image29.png"/><Relationship Id="rId3" Type="http://schemas.openxmlformats.org/officeDocument/2006/relationships/image" Target="../media/image6.png"/><Relationship Id="rId2" Type="http://schemas.microsoft.com/office/2007/relationships/media" Target="../media/media6.mp3"/><Relationship Id="rId12" Type="http://schemas.openxmlformats.org/officeDocument/2006/relationships/notesSlide" Target="../notesSlides/notesSlide23.xml"/><Relationship Id="rId11" Type="http://schemas.openxmlformats.org/officeDocument/2006/relationships/slideLayout" Target="../slideLayouts/slideLayout2.xml"/><Relationship Id="rId10" Type="http://schemas.microsoft.com/office/2007/relationships/media" Target="../media/media20.mp3"/><Relationship Id="rId1" Type="http://schemas.openxmlformats.org/officeDocument/2006/relationships/audio" Target="NULL" TargetMode="Externa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1" Type="http://schemas.openxmlformats.org/officeDocument/2006/relationships/notesSlide" Target="../notesSlides/notesSlide24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31.png"/><Relationship Id="rId7" Type="http://schemas.microsoft.com/office/2007/relationships/media" Target="../media/media23.mp4"/><Relationship Id="rId6" Type="http://schemas.openxmlformats.org/officeDocument/2006/relationships/video" Target="NULL" TargetMode="External"/><Relationship Id="rId5" Type="http://schemas.microsoft.com/office/2007/relationships/media" Target="../media/media22.mp3"/><Relationship Id="rId4" Type="http://schemas.openxmlformats.org/officeDocument/2006/relationships/audio" Target="../media/media22.mp3"/><Relationship Id="rId3" Type="http://schemas.openxmlformats.org/officeDocument/2006/relationships/image" Target="../media/image6.png"/><Relationship Id="rId2" Type="http://schemas.microsoft.com/office/2007/relationships/media" Target="../media/media21.mp3"/><Relationship Id="rId12" Type="http://schemas.openxmlformats.org/officeDocument/2006/relationships/notesSlide" Target="../notesSlides/notesSlide25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8.png"/><Relationship Id="rId1" Type="http://schemas.openxmlformats.org/officeDocument/2006/relationships/audio" Target="../media/media21.mp3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5" Type="http://schemas.openxmlformats.org/officeDocument/2006/relationships/notesSlide" Target="../notesSlides/notesSlide26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tags" Target="../tags/tag87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2995930" y="1917065"/>
            <a:ext cx="6200140" cy="1006475"/>
          </a:xfrm>
          <a:prstGeom prst="rect">
            <a:avLst/>
          </a:prstGeom>
        </p:spPr>
        <p:txBody>
          <a:bodyPr/>
          <a:lstStyle/>
          <a:p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输入输出与计算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 txBox="1"/>
          <p:nvPr/>
        </p:nvSpPr>
        <p:spPr>
          <a:xfrm>
            <a:off x="1056000" y="3717000"/>
            <a:ext cx="11257280" cy="9944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b="1" kern="12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/>
              <a:t>年    级：六年级                     学    科：信息科技</a:t>
            </a:r>
            <a:endParaRPr lang="zh-CN" altLang="en-US" sz="2800" dirty="0"/>
          </a:p>
          <a:p>
            <a:r>
              <a:rPr lang="zh-CN" altLang="en-US" sz="2800" dirty="0"/>
              <a:t>主讲人：张心诚                     学    校：</a:t>
            </a:r>
            <a:r>
              <a:rPr lang="zh-CN" altLang="en-US" dirty="0"/>
              <a:t>上海市青浦区教师进修学院附属中学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1785770" y="2058403"/>
            <a:ext cx="4248373" cy="539750"/>
            <a:chOff x="996174" y="2188583"/>
            <a:chExt cx="4167814" cy="540000"/>
          </a:xfrm>
        </p:grpSpPr>
        <p:grpSp>
          <p:nvGrpSpPr>
            <p:cNvPr id="18" name="组合 17"/>
            <p:cNvGrpSpPr/>
            <p:nvPr/>
          </p:nvGrpSpPr>
          <p:grpSpPr>
            <a:xfrm>
              <a:off x="996174" y="2188583"/>
              <a:ext cx="4167814" cy="540000"/>
              <a:chOff x="1635965" y="1686127"/>
              <a:chExt cx="4643279" cy="601602"/>
            </a:xfrm>
          </p:grpSpPr>
          <p:sp>
            <p:nvSpPr>
              <p:cNvPr id="19" name="圆角矩形 18"/>
              <p:cNvSpPr/>
              <p:nvPr>
                <p:custDataLst>
                  <p:tags r:id="rId2"/>
                </p:custDataLst>
              </p:nvPr>
            </p:nvSpPr>
            <p:spPr>
              <a:xfrm>
                <a:off x="1852529" y="1759735"/>
                <a:ext cx="4426715" cy="498268"/>
              </a:xfrm>
              <a:prstGeom prst="roundRect">
                <a:avLst/>
              </a:prstGeom>
              <a:solidFill>
                <a:srgbClr val="01431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0" name="矩形 19"/>
              <p:cNvSpPr/>
              <p:nvPr>
                <p:custDataLst>
                  <p:tags r:id="rId3"/>
                </p:custDataLst>
              </p:nvPr>
            </p:nvSpPr>
            <p:spPr>
              <a:xfrm rot="18614181">
                <a:off x="1635965" y="1686126"/>
                <a:ext cx="601602" cy="601603"/>
              </a:xfrm>
              <a:prstGeom prst="rect">
                <a:avLst/>
              </a:prstGeom>
              <a:solidFill>
                <a:srgbClr val="01621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1" name="文本框 20"/>
            <p:cNvSpPr txBox="1"/>
            <p:nvPr>
              <p:custDataLst>
                <p:tags r:id="rId4"/>
              </p:custDataLst>
            </p:nvPr>
          </p:nvSpPr>
          <p:spPr>
            <a:xfrm>
              <a:off x="1061173" y="2238771"/>
              <a:ext cx="3934549" cy="460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    </a:t>
              </a:r>
              <a:r>
                <a:rPr lang="zh-CN" altLang="en-US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了解过程中的控制</a:t>
              </a:r>
              <a:endParaRPr lang="zh-CN" altLang="en-US" sz="24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31" name="标题 27"/>
          <p:cNvSpPr>
            <a:spLocks noGrp="1"/>
          </p:cNvSpPr>
          <p:nvPr>
            <p:ph type="title" idx="4294967295"/>
          </p:nvPr>
        </p:nvSpPr>
        <p:spPr>
          <a:xfrm>
            <a:off x="3766185" y="1052830"/>
            <a:ext cx="4660265" cy="57404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3000" dirty="0"/>
              <a:t>输入输出与计算</a:t>
            </a:r>
            <a:endParaRPr lang="zh-CN" altLang="en-US" sz="3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8" name="组合 37"/>
          <p:cNvGrpSpPr/>
          <p:nvPr>
            <p:custDataLst>
              <p:tags r:id="rId5"/>
            </p:custDataLst>
          </p:nvPr>
        </p:nvGrpSpPr>
        <p:grpSpPr>
          <a:xfrm>
            <a:off x="1909800" y="4665390"/>
            <a:ext cx="5698200" cy="563790"/>
            <a:chOff x="1006682" y="4582902"/>
            <a:chExt cx="4486050" cy="564051"/>
          </a:xfrm>
        </p:grpSpPr>
        <p:grpSp>
          <p:nvGrpSpPr>
            <p:cNvPr id="39" name="组合 38"/>
            <p:cNvGrpSpPr/>
            <p:nvPr/>
          </p:nvGrpSpPr>
          <p:grpSpPr>
            <a:xfrm>
              <a:off x="1006682" y="4582902"/>
              <a:ext cx="3277286" cy="564051"/>
              <a:chOff x="1647672" y="1629619"/>
              <a:chExt cx="3651159" cy="628397"/>
            </a:xfrm>
          </p:grpSpPr>
          <p:sp>
            <p:nvSpPr>
              <p:cNvPr id="40" name="圆角矩形 39"/>
              <p:cNvSpPr/>
              <p:nvPr>
                <p:custDataLst>
                  <p:tags r:id="rId6"/>
                </p:custDataLst>
              </p:nvPr>
            </p:nvSpPr>
            <p:spPr>
              <a:xfrm>
                <a:off x="1852333" y="1729911"/>
                <a:ext cx="3446498" cy="528105"/>
              </a:xfrm>
              <a:prstGeom prst="roundRect">
                <a:avLst/>
              </a:prstGeom>
              <a:solidFill>
                <a:srgbClr val="711000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1" name="矩形 40"/>
              <p:cNvSpPr/>
              <p:nvPr>
                <p:custDataLst>
                  <p:tags r:id="rId7"/>
                </p:custDataLst>
              </p:nvPr>
            </p:nvSpPr>
            <p:spPr>
              <a:xfrm rot="18614181">
                <a:off x="1575194" y="1702097"/>
                <a:ext cx="616456" cy="471499"/>
              </a:xfrm>
              <a:prstGeom prst="rect">
                <a:avLst/>
              </a:prstGeom>
              <a:solidFill>
                <a:srgbClr val="AF0000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2" name="文本框 41"/>
            <p:cNvSpPr txBox="1"/>
            <p:nvPr>
              <p:custDataLst>
                <p:tags r:id="rId8"/>
              </p:custDataLst>
            </p:nvPr>
          </p:nvSpPr>
          <p:spPr>
            <a:xfrm>
              <a:off x="1084861" y="4677005"/>
              <a:ext cx="4407871" cy="460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     </a:t>
              </a:r>
              <a:r>
                <a:rPr lang="zh-CN" altLang="en-US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认识生活中的控制系统</a:t>
              </a:r>
              <a:endParaRPr lang="zh-CN" altLang="en-US" sz="24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9"/>
            </p:custDataLst>
          </p:nvPr>
        </p:nvGrpSpPr>
        <p:grpSpPr>
          <a:xfrm>
            <a:off x="1850562" y="3412297"/>
            <a:ext cx="4183582" cy="539750"/>
            <a:chOff x="996172" y="3505024"/>
            <a:chExt cx="4102607" cy="540000"/>
          </a:xfrm>
        </p:grpSpPr>
        <p:grpSp>
          <p:nvGrpSpPr>
            <p:cNvPr id="44" name="组合 43"/>
            <p:cNvGrpSpPr/>
            <p:nvPr/>
          </p:nvGrpSpPr>
          <p:grpSpPr>
            <a:xfrm>
              <a:off x="996172" y="3505024"/>
              <a:ext cx="4102607" cy="540000"/>
              <a:chOff x="1635964" y="1686127"/>
              <a:chExt cx="4570633" cy="601602"/>
            </a:xfrm>
          </p:grpSpPr>
          <p:sp>
            <p:nvSpPr>
              <p:cNvPr id="45" name="圆角矩形 44"/>
              <p:cNvSpPr/>
              <p:nvPr>
                <p:custDataLst>
                  <p:tags r:id="rId10"/>
                </p:custDataLst>
              </p:nvPr>
            </p:nvSpPr>
            <p:spPr>
              <a:xfrm>
                <a:off x="1852332" y="1729910"/>
                <a:ext cx="4354265" cy="528105"/>
              </a:xfrm>
              <a:prstGeom prst="roundRect">
                <a:avLst/>
              </a:prstGeom>
              <a:solidFill>
                <a:srgbClr val="014E6A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矩形 45"/>
              <p:cNvSpPr/>
              <p:nvPr>
                <p:custDataLst>
                  <p:tags r:id="rId11"/>
                </p:custDataLst>
              </p:nvPr>
            </p:nvSpPr>
            <p:spPr>
              <a:xfrm rot="18614181">
                <a:off x="1635965" y="1686126"/>
                <a:ext cx="601602" cy="601603"/>
              </a:xfrm>
              <a:prstGeom prst="rect">
                <a:avLst/>
              </a:prstGeom>
              <a:solidFill>
                <a:srgbClr val="1784A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7" name="文本框 46"/>
            <p:cNvSpPr txBox="1"/>
            <p:nvPr>
              <p:custDataLst>
                <p:tags r:id="rId12"/>
              </p:custDataLst>
            </p:nvPr>
          </p:nvSpPr>
          <p:spPr>
            <a:xfrm>
              <a:off x="1084860" y="3548404"/>
              <a:ext cx="4013919" cy="461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     </a:t>
              </a:r>
              <a:r>
                <a:rPr lang="zh-CN" altLang="en-US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分析控制系统的典型环节</a:t>
              </a:r>
              <a:endParaRPr lang="zh-CN" altLang="en-US" sz="24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4" name="矩形 3"/>
          <p:cNvSpPr/>
          <p:nvPr>
            <p:custDataLst>
              <p:tags r:id="rId13"/>
            </p:custDataLst>
          </p:nvPr>
        </p:nvSpPr>
        <p:spPr>
          <a:xfrm>
            <a:off x="1535430" y="2475230"/>
            <a:ext cx="8478520" cy="857250"/>
          </a:xfrm>
          <a:prstGeom prst="rect">
            <a:avLst/>
          </a:prstGeom>
          <a:noFill/>
          <a:ln>
            <a:noFill/>
          </a:ln>
        </p:spPr>
        <p:txBody>
          <a:bodyPr upright="1"/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10665" y="4947285"/>
            <a:ext cx="8121015" cy="622935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zh-CN" sz="2400" kern="100" noProof="0" dirty="0">
              <a:ln>
                <a:noFill/>
              </a:ln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2403475" y="2679065"/>
            <a:ext cx="8329929" cy="1400810"/>
            <a:chOff x="996173" y="2188583"/>
            <a:chExt cx="3570964" cy="540000"/>
          </a:xfrm>
        </p:grpSpPr>
        <p:grpSp>
          <p:nvGrpSpPr>
            <p:cNvPr id="18" name="组合 17"/>
            <p:cNvGrpSpPr/>
            <p:nvPr/>
          </p:nvGrpSpPr>
          <p:grpSpPr>
            <a:xfrm>
              <a:off x="996173" y="2188583"/>
              <a:ext cx="3287795" cy="540000"/>
              <a:chOff x="1635964" y="1686127"/>
              <a:chExt cx="3662867" cy="601602"/>
            </a:xfrm>
          </p:grpSpPr>
          <p:sp>
            <p:nvSpPr>
              <p:cNvPr id="19" name="圆角矩形 18"/>
              <p:cNvSpPr/>
              <p:nvPr>
                <p:custDataLst>
                  <p:tags r:id="rId2"/>
                </p:custDataLst>
              </p:nvPr>
            </p:nvSpPr>
            <p:spPr>
              <a:xfrm>
                <a:off x="1852333" y="1729911"/>
                <a:ext cx="3446498" cy="528105"/>
              </a:xfrm>
              <a:prstGeom prst="roundRect">
                <a:avLst/>
              </a:prstGeom>
              <a:solidFill>
                <a:srgbClr val="01431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0" name="矩形 19"/>
              <p:cNvSpPr/>
              <p:nvPr>
                <p:custDataLst>
                  <p:tags r:id="rId3"/>
                </p:custDataLst>
              </p:nvPr>
            </p:nvSpPr>
            <p:spPr>
              <a:xfrm rot="18614181">
                <a:off x="1635965" y="1686126"/>
                <a:ext cx="601602" cy="601603"/>
              </a:xfrm>
              <a:prstGeom prst="rect">
                <a:avLst/>
              </a:prstGeom>
              <a:solidFill>
                <a:srgbClr val="01621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1" name="文本框 20"/>
            <p:cNvSpPr txBox="1"/>
            <p:nvPr>
              <p:custDataLst>
                <p:tags r:id="rId4"/>
              </p:custDataLst>
            </p:nvPr>
          </p:nvSpPr>
          <p:spPr>
            <a:xfrm>
              <a:off x="1147236" y="2298476"/>
              <a:ext cx="3419901" cy="319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     </a:t>
              </a:r>
              <a:r>
                <a:rPr lang="zh-CN" altLang="en-US" sz="48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了解过程中的控制</a:t>
              </a:r>
              <a:endParaRPr lang="zh-CN" altLang="en-US" sz="4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2699581" y="1878210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2023840" y="1605691"/>
            <a:ext cx="445481" cy="469613"/>
            <a:chOff x="2121873" y="1511588"/>
            <a:chExt cx="445481" cy="469613"/>
          </a:xfrm>
        </p:grpSpPr>
        <p:sp>
          <p:nvSpPr>
            <p:cNvPr id="7" name="矩形 6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578100" y="1269365"/>
            <a:ext cx="676338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过程中的控制</a:t>
            </a:r>
            <a:endParaRPr lang="zh-CN" altLang="en-US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1" name="图片 10" descr="智能抠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6365" y="3094673"/>
            <a:ext cx="2736850" cy="2007235"/>
          </a:xfrm>
          <a:prstGeom prst="rect">
            <a:avLst/>
          </a:prstGeom>
        </p:spPr>
      </p:pic>
      <p:pic>
        <p:nvPicPr>
          <p:cNvPr id="12" name="图片 11" descr="智能抠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635" y="3277236"/>
            <a:ext cx="2174875" cy="1642110"/>
          </a:xfrm>
          <a:prstGeom prst="rect">
            <a:avLst/>
          </a:prstGeom>
        </p:spPr>
      </p:pic>
      <p:pic>
        <p:nvPicPr>
          <p:cNvPr id="2" name="回家时，车辆靠近车库门口，系统就会控制自动感应杆升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032000" y="4492308"/>
            <a:ext cx="609601" cy="609600"/>
          </a:xfrm>
          <a:prstGeom prst="rect">
            <a:avLst/>
          </a:prstGeom>
        </p:spPr>
      </p:pic>
      <p:pic>
        <p:nvPicPr>
          <p:cNvPr id="3" name="在电梯里，按下想去的楼层，系统就会控制电梯，将我们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60000" y="5301615"/>
            <a:ext cx="609600" cy="609600"/>
          </a:xfrm>
          <a:prstGeom prst="rect">
            <a:avLst/>
          </a:prstGeom>
        </p:spPr>
      </p:pic>
      <p:pic>
        <p:nvPicPr>
          <p:cNvPr id="17" name="让我们一起来看看吧 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655200" y="6957000"/>
            <a:ext cx="609600" cy="609600"/>
          </a:xfrm>
          <a:prstGeom prst="rect">
            <a:avLst/>
          </a:prstGeom>
        </p:spPr>
      </p:pic>
      <p:pic>
        <p:nvPicPr>
          <p:cNvPr id="9" name="老师，昨天我在餐厅吃饭时，发现那里是使用机器人来送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72000" y="6075530"/>
            <a:ext cx="609600" cy="6096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67036" y="3789000"/>
            <a:ext cx="882872" cy="2374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49931" y="3746108"/>
            <a:ext cx="875033" cy="246068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000" y="2934129"/>
            <a:ext cx="1368000" cy="23925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文本框 12"/>
          <p:cNvSpPr txBox="1"/>
          <p:nvPr>
            <p:custDataLst>
              <p:tags r:id="rId1"/>
            </p:custDataLst>
          </p:nvPr>
        </p:nvSpPr>
        <p:spPr>
          <a:xfrm>
            <a:off x="2655270" y="1141957"/>
            <a:ext cx="7179311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分析送餐过程</a:t>
            </a:r>
            <a:endParaRPr lang="zh-CN" altLang="en-US" sz="3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68491" y="2247826"/>
            <a:ext cx="10972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2E4C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送餐员</a:t>
            </a:r>
            <a:endParaRPr lang="en-US" altLang="zh-CN" sz="2400" b="1" kern="0" dirty="0">
              <a:solidFill>
                <a:srgbClr val="2E4C6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670356" y="2154504"/>
            <a:ext cx="792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2E4C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顾客</a:t>
            </a:r>
            <a:endParaRPr lang="en-US" altLang="zh-CN" sz="2400" b="1" kern="0" dirty="0">
              <a:solidFill>
                <a:srgbClr val="2E4C6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85139" y="2253617"/>
            <a:ext cx="792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2E4C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老板</a:t>
            </a:r>
            <a:endParaRPr lang="en-US" altLang="zh-CN" sz="2400" b="1" kern="0" dirty="0">
              <a:solidFill>
                <a:srgbClr val="2E4C6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106" y="3429818"/>
            <a:ext cx="1781840" cy="178512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523" y="3318578"/>
            <a:ext cx="1873452" cy="187081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8"/>
          <a:stretch>
            <a:fillRect/>
          </a:stretch>
        </p:blipFill>
        <p:spPr>
          <a:xfrm flipH="1">
            <a:off x="4350739" y="3237386"/>
            <a:ext cx="1873452" cy="2068693"/>
          </a:xfrm>
          <a:prstGeom prst="rect">
            <a:avLst/>
          </a:prstGeom>
        </p:spPr>
      </p:pic>
      <p:sp>
        <p:nvSpPr>
          <p:cNvPr id="3" name="对话气泡: 圆角矩形 2"/>
          <p:cNvSpPr/>
          <p:nvPr/>
        </p:nvSpPr>
        <p:spPr>
          <a:xfrm>
            <a:off x="2437130" y="2819233"/>
            <a:ext cx="2088684" cy="439153"/>
          </a:xfrm>
          <a:prstGeom prst="wedgeRoundRectCallout">
            <a:avLst>
              <a:gd name="adj1" fmla="val -37425"/>
              <a:gd name="adj2" fmla="val 9089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将餐品送给顾客</a:t>
            </a:r>
            <a:endParaRPr lang="zh-CN" alt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对话气泡: 圆角矩形 3"/>
          <p:cNvSpPr/>
          <p:nvPr/>
        </p:nvSpPr>
        <p:spPr>
          <a:xfrm>
            <a:off x="7365314" y="2828883"/>
            <a:ext cx="1107995" cy="439153"/>
          </a:xfrm>
          <a:prstGeom prst="wedgeRoundRectCallout">
            <a:avLst>
              <a:gd name="adj1" fmla="val 51299"/>
              <a:gd name="adj2" fmla="val 11297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请用餐</a:t>
            </a:r>
            <a:endParaRPr lang="zh-CN" alt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老师，我觉得送给谁很关键。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888000" y="2919463"/>
            <a:ext cx="609600" cy="60960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V="1">
            <a:off x="2699581" y="1878210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/>
        </p:nvGrpSpPr>
        <p:grpSpPr>
          <a:xfrm>
            <a:off x="2023840" y="1605691"/>
            <a:ext cx="445481" cy="469613"/>
            <a:chOff x="2121873" y="1511588"/>
            <a:chExt cx="445481" cy="469613"/>
          </a:xfrm>
        </p:grpSpPr>
        <p:sp>
          <p:nvSpPr>
            <p:cNvPr id="16" name="矩形 15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" name="附件2  课内练习背景音乐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>
                  <p14:trim st="1752.000000" end="93347.851563"/>
                  <p14:fade out="1000.00000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3034010" y="4937463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2699581" y="1878210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2023840" y="1605691"/>
            <a:ext cx="445481" cy="469613"/>
            <a:chOff x="2121873" y="1511588"/>
            <a:chExt cx="445481" cy="469613"/>
          </a:xfrm>
        </p:grpSpPr>
        <p:sp>
          <p:nvSpPr>
            <p:cNvPr id="7" name="矩形 6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578100" y="1220470"/>
            <a:ext cx="676338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送餐机器人操作界面</a:t>
            </a:r>
            <a:endParaRPr lang="zh-CN" altLang="en-US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1991940" y="4069627"/>
            <a:ext cx="2376000" cy="1200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送到</a:t>
            </a:r>
            <a:r>
              <a:rPr lang="en-US" altLang="zh-CN" dirty="0"/>
              <a:t>A</a:t>
            </a:r>
            <a:r>
              <a:rPr lang="zh-CN" altLang="en-US" dirty="0"/>
              <a:t>桌</a:t>
            </a:r>
            <a:endParaRPr lang="zh-CN" altLang="en-US" dirty="0"/>
          </a:p>
        </p:txBody>
      </p:sp>
      <p:sp>
        <p:nvSpPr>
          <p:cNvPr id="3" name="矩形: 圆角 2"/>
          <p:cNvSpPr/>
          <p:nvPr/>
        </p:nvSpPr>
        <p:spPr>
          <a:xfrm>
            <a:off x="4943940" y="4069627"/>
            <a:ext cx="2376000" cy="1200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送到</a:t>
            </a:r>
            <a:r>
              <a:rPr lang="en-US" altLang="zh-CN" dirty="0"/>
              <a:t>B</a:t>
            </a:r>
            <a:r>
              <a:rPr lang="zh-CN" altLang="en-US" dirty="0"/>
              <a:t>桌</a:t>
            </a:r>
            <a:endParaRPr lang="zh-CN" altLang="en-US" dirty="0"/>
          </a:p>
        </p:txBody>
      </p:sp>
      <p:sp>
        <p:nvSpPr>
          <p:cNvPr id="9" name="矩形: 圆角 8"/>
          <p:cNvSpPr/>
          <p:nvPr/>
        </p:nvSpPr>
        <p:spPr>
          <a:xfrm>
            <a:off x="7895940" y="4069627"/>
            <a:ext cx="2376000" cy="1200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送到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19" name="Rectangle 1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487766" y="2414260"/>
            <a:ext cx="9254406" cy="101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9pPr>
          </a:lstStyle>
          <a:p>
            <a:pPr indent="581660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在送餐机器人控制系统中，我们可以通过以下选项，控制送餐机器人的目的地。</a:t>
            </a:r>
            <a:endParaRPr lang="zh-CN" altLang="en-US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文本框 12"/>
          <p:cNvSpPr txBox="1"/>
          <p:nvPr>
            <p:custDataLst>
              <p:tags r:id="rId1"/>
            </p:custDataLst>
          </p:nvPr>
        </p:nvSpPr>
        <p:spPr>
          <a:xfrm>
            <a:off x="2528170" y="1202605"/>
            <a:ext cx="7179311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活动：体验过程中的控制</a:t>
            </a:r>
            <a:endParaRPr lang="zh-CN" altLang="en-US" sz="3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68491" y="2247826"/>
            <a:ext cx="10972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2E4C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送餐员</a:t>
            </a:r>
            <a:endParaRPr lang="en-US" altLang="zh-CN" sz="2400" b="1" kern="0" dirty="0">
              <a:solidFill>
                <a:srgbClr val="2E4C6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670356" y="2154504"/>
            <a:ext cx="792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2E4C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顾客</a:t>
            </a:r>
            <a:endParaRPr lang="en-US" altLang="zh-CN" sz="2400" b="1" kern="0" dirty="0">
              <a:solidFill>
                <a:srgbClr val="2E4C6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85139" y="2253617"/>
            <a:ext cx="792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2E4C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老板</a:t>
            </a:r>
            <a:endParaRPr lang="en-US" altLang="zh-CN" sz="2400" b="1" kern="0" dirty="0">
              <a:solidFill>
                <a:srgbClr val="2E4C6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106" y="3429818"/>
            <a:ext cx="1781840" cy="178512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523" y="3318578"/>
            <a:ext cx="1873452" cy="187081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8"/>
          <a:stretch>
            <a:fillRect/>
          </a:stretch>
        </p:blipFill>
        <p:spPr>
          <a:xfrm flipH="1">
            <a:off x="4350739" y="3237386"/>
            <a:ext cx="1873452" cy="2068693"/>
          </a:xfrm>
          <a:prstGeom prst="rect">
            <a:avLst/>
          </a:prstGeom>
        </p:spPr>
      </p:pic>
      <p:sp>
        <p:nvSpPr>
          <p:cNvPr id="3" name="对话气泡: 圆角矩形 2"/>
          <p:cNvSpPr/>
          <p:nvPr/>
        </p:nvSpPr>
        <p:spPr>
          <a:xfrm>
            <a:off x="2327285" y="2817772"/>
            <a:ext cx="2832715" cy="439153"/>
          </a:xfrm>
          <a:prstGeom prst="wedgeRoundRectCallout">
            <a:avLst>
              <a:gd name="adj1" fmla="val -37425"/>
              <a:gd name="adj2" fmla="val 9089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将餐品送给顾客，尽快</a:t>
            </a:r>
            <a:endParaRPr lang="zh-CN" alt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对话气泡: 圆角矩形 3"/>
          <p:cNvSpPr/>
          <p:nvPr/>
        </p:nvSpPr>
        <p:spPr>
          <a:xfrm>
            <a:off x="7365314" y="2828883"/>
            <a:ext cx="1107995" cy="439153"/>
          </a:xfrm>
          <a:prstGeom prst="wedgeRoundRectCallout">
            <a:avLst>
              <a:gd name="adj1" fmla="val 51299"/>
              <a:gd name="adj2" fmla="val 112976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请用餐</a:t>
            </a:r>
            <a:endParaRPr lang="zh-CN" alt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47100" y="5311289"/>
            <a:ext cx="1107996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目的地</a:t>
            </a:r>
            <a:endParaRPr lang="en-US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17607" y="5318191"/>
            <a:ext cx="800219" cy="5810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路线</a:t>
            </a:r>
            <a:endParaRPr lang="en-US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894213" y="5318191"/>
            <a:ext cx="13933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</a:t>
            </a:r>
            <a:r>
              <a:rPr lang="en-US" altLang="zh-CN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2699581" y="1878210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023840" y="1605691"/>
            <a:ext cx="445481" cy="469613"/>
            <a:chOff x="2121873" y="1511588"/>
            <a:chExt cx="445481" cy="469613"/>
          </a:xfrm>
        </p:grpSpPr>
        <p:sp>
          <p:nvSpPr>
            <p:cNvPr id="18" name="矩形 17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7" name="老师，有时候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176000" y="6165000"/>
            <a:ext cx="609600" cy="609600"/>
          </a:xfrm>
          <a:prstGeom prst="rect">
            <a:avLst/>
          </a:prstGeom>
        </p:spPr>
      </p:pic>
      <p:pic>
        <p:nvPicPr>
          <p:cNvPr id="20" name="老师，再刚刚这过程中，我们控制了送餐的速度！ (2)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104000" y="4797000"/>
            <a:ext cx="609600" cy="609600"/>
          </a:xfrm>
          <a:prstGeom prst="rect">
            <a:avLst/>
          </a:prstGeom>
        </p:spPr>
      </p:pic>
      <p:pic>
        <p:nvPicPr>
          <p:cNvPr id="21" name="附件2  课内练习背景音乐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>
                  <p14:trim st="1752.000000" end="95582.851563"/>
                  <p14:fade out="1000.00000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3034010" y="4937463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直接连接符 114"/>
          <p:cNvCxnSpPr/>
          <p:nvPr/>
        </p:nvCxnSpPr>
        <p:spPr>
          <a:xfrm flipV="1">
            <a:off x="2654855" y="1339094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组合 115"/>
          <p:cNvGrpSpPr/>
          <p:nvPr/>
        </p:nvGrpSpPr>
        <p:grpSpPr>
          <a:xfrm>
            <a:off x="1979114" y="1066575"/>
            <a:ext cx="445481" cy="469613"/>
            <a:chOff x="2121873" y="1511588"/>
            <a:chExt cx="445481" cy="469613"/>
          </a:xfrm>
        </p:grpSpPr>
        <p:sp>
          <p:nvSpPr>
            <p:cNvPr id="117" name="矩形 116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19" name="文本框 12"/>
          <p:cNvSpPr txBox="1"/>
          <p:nvPr>
            <p:custDataLst>
              <p:tags r:id="rId1"/>
            </p:custDataLst>
          </p:nvPr>
        </p:nvSpPr>
        <p:spPr>
          <a:xfrm>
            <a:off x="2654855" y="744319"/>
            <a:ext cx="717931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活动：把车推到目的地</a:t>
            </a:r>
            <a:endParaRPr lang="zh-CN" altLang="en-US" sz="3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826133" y="2139449"/>
            <a:ext cx="5053867" cy="120570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9pPr>
          </a:lstStyle>
          <a:p>
            <a:pPr marL="0" marR="0" lvl="0" indent="720090" algn="l" defTabSz="914400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在指定的路线上，</a:t>
            </a:r>
            <a:endParaRPr kumimoji="0" lang="en-US" altLang="zh-CN" sz="2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720090" algn="l" defTabSz="914400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把</a:t>
            </a: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小车推到目的地。</a:t>
            </a:r>
            <a:endParaRPr kumimoji="0" lang="zh-CN" sz="2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357" y="3396055"/>
            <a:ext cx="2445288" cy="2445288"/>
          </a:xfrm>
          <a:prstGeom prst="rect">
            <a:avLst/>
          </a:prstGeom>
        </p:spPr>
      </p:pic>
      <p:pic>
        <p:nvPicPr>
          <p:cNvPr id="16" name="附件2  课内练习背景音乐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trim st="1752.000000" end="72953.851563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034010" y="4937463"/>
            <a:ext cx="609600" cy="609600"/>
          </a:xfrm>
          <a:prstGeom prst="rect">
            <a:avLst/>
          </a:prstGeom>
        </p:spPr>
      </p:pic>
      <p:pic>
        <p:nvPicPr>
          <p:cNvPr id="13" name="老师，再刚刚这过程中，我们控制了送餐的速度！ (1)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896000" y="5419864"/>
            <a:ext cx="609600" cy="60960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6023782" y="2267350"/>
            <a:ext cx="5112000" cy="4077616"/>
            <a:chOff x="6024000" y="1989000"/>
            <a:chExt cx="5112000" cy="4077616"/>
          </a:xfrm>
        </p:grpSpPr>
        <p:grpSp>
          <p:nvGrpSpPr>
            <p:cNvPr id="18" name="组合 17"/>
            <p:cNvGrpSpPr/>
            <p:nvPr/>
          </p:nvGrpSpPr>
          <p:grpSpPr>
            <a:xfrm>
              <a:off x="6024000" y="1989274"/>
              <a:ext cx="1008000" cy="1008000"/>
              <a:chOff x="6384000" y="2853000"/>
              <a:chExt cx="1008000" cy="1008000"/>
            </a:xfrm>
          </p:grpSpPr>
          <p:pic>
            <p:nvPicPr>
              <p:cNvPr id="145" name="图片 144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46" name="矩形 14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文本框 14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A1</a:t>
                </a:r>
                <a:endParaRPr lang="zh-CN" altLang="en-US" sz="1400" dirty="0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6024000" y="2997000"/>
              <a:ext cx="1008000" cy="1008000"/>
              <a:chOff x="6384000" y="2853000"/>
              <a:chExt cx="1008000" cy="1008000"/>
            </a:xfrm>
          </p:grpSpPr>
          <p:pic>
            <p:nvPicPr>
              <p:cNvPr id="142" name="图片 14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43" name="矩形 142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文本框 143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A2</a:t>
                </a:r>
                <a:endParaRPr lang="zh-CN" altLang="en-US" sz="1400" dirty="0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6024000" y="4050890"/>
              <a:ext cx="1008000" cy="1008000"/>
              <a:chOff x="6384000" y="2853000"/>
              <a:chExt cx="1008000" cy="1008000"/>
            </a:xfrm>
          </p:grpSpPr>
          <p:pic>
            <p:nvPicPr>
              <p:cNvPr id="139" name="图片 138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40" name="矩形 13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文本框 14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A3</a:t>
                </a:r>
                <a:endParaRPr lang="zh-CN" altLang="en-US" sz="1400" dirty="0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6024000" y="5058616"/>
              <a:ext cx="1008000" cy="1008000"/>
              <a:chOff x="6384000" y="2853000"/>
              <a:chExt cx="1008000" cy="1008000"/>
            </a:xfrm>
          </p:grpSpPr>
          <p:pic>
            <p:nvPicPr>
              <p:cNvPr id="136" name="图片 135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37" name="矩形 136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文本框 137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A4</a:t>
                </a:r>
                <a:endParaRPr lang="zh-CN" altLang="en-US" sz="1400" dirty="0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7392000" y="1989274"/>
              <a:ext cx="1008000" cy="1008000"/>
              <a:chOff x="6384000" y="2853000"/>
              <a:chExt cx="1008000" cy="1008000"/>
            </a:xfrm>
          </p:grpSpPr>
          <p:pic>
            <p:nvPicPr>
              <p:cNvPr id="133" name="图片 13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34" name="矩形 133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文本框 134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B1</a:t>
                </a:r>
                <a:endParaRPr lang="zh-CN" altLang="en-US" sz="1400" dirty="0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7392000" y="2997000"/>
              <a:ext cx="1008000" cy="1008000"/>
              <a:chOff x="6384000" y="2853000"/>
              <a:chExt cx="1008000" cy="1008000"/>
            </a:xfrm>
          </p:grpSpPr>
          <p:pic>
            <p:nvPicPr>
              <p:cNvPr id="130" name="图片 12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31" name="矩形 130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文本框 131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B2</a:t>
                </a:r>
                <a:endParaRPr lang="zh-CN" altLang="en-US" sz="1400" dirty="0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7392000" y="4050890"/>
              <a:ext cx="1008000" cy="1008000"/>
              <a:chOff x="6384000" y="2853000"/>
              <a:chExt cx="1008000" cy="1008000"/>
            </a:xfrm>
          </p:grpSpPr>
          <p:pic>
            <p:nvPicPr>
              <p:cNvPr id="127" name="图片 126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28" name="矩形 127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文本框 12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B3</a:t>
                </a:r>
                <a:endParaRPr lang="zh-CN" altLang="en-US" sz="1400" dirty="0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7392000" y="5058616"/>
              <a:ext cx="1008000" cy="1008000"/>
              <a:chOff x="6384000" y="2853000"/>
              <a:chExt cx="1008000" cy="1008000"/>
            </a:xfrm>
          </p:grpSpPr>
          <p:pic>
            <p:nvPicPr>
              <p:cNvPr id="124" name="图片 123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25" name="矩形 124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文本框 125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B4</a:t>
                </a:r>
                <a:endParaRPr lang="zh-CN" altLang="en-US" sz="1400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8760000" y="1989000"/>
              <a:ext cx="1008000" cy="1008000"/>
              <a:chOff x="6384000" y="2853000"/>
              <a:chExt cx="1008000" cy="1008000"/>
            </a:xfrm>
          </p:grpSpPr>
          <p:pic>
            <p:nvPicPr>
              <p:cNvPr id="121" name="图片 120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22" name="矩形 121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文本框 122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C1</a:t>
                </a:r>
                <a:endParaRPr lang="zh-CN" altLang="en-US" sz="1400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8760000" y="2996726"/>
              <a:ext cx="1008000" cy="1008000"/>
              <a:chOff x="6384000" y="2853000"/>
              <a:chExt cx="1008000" cy="1008000"/>
            </a:xfrm>
          </p:grpSpPr>
          <p:pic>
            <p:nvPicPr>
              <p:cNvPr id="111" name="图片 110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13" name="矩形 112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文本框 119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C2</a:t>
                </a:r>
                <a:endParaRPr lang="zh-CN" altLang="en-US" sz="1400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8760000" y="4050616"/>
              <a:ext cx="1008000" cy="1008000"/>
              <a:chOff x="6384000" y="2853000"/>
              <a:chExt cx="1008000" cy="1008000"/>
            </a:xfrm>
          </p:grpSpPr>
          <p:pic>
            <p:nvPicPr>
              <p:cNvPr id="57" name="图片 56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07" name="矩形 106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文本框 10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C3</a:t>
                </a:r>
                <a:endParaRPr lang="zh-CN" altLang="en-US" sz="1400" dirty="0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8760000" y="5058342"/>
              <a:ext cx="1008000" cy="1008000"/>
              <a:chOff x="6384000" y="2853000"/>
              <a:chExt cx="1008000" cy="100800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55" name="矩形 54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C4</a:t>
                </a:r>
                <a:endParaRPr lang="zh-CN" altLang="en-US" sz="1400" dirty="0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0128000" y="1989000"/>
              <a:ext cx="1008000" cy="1008000"/>
              <a:chOff x="6384000" y="2853000"/>
              <a:chExt cx="1008000" cy="1008000"/>
            </a:xfrm>
          </p:grpSpPr>
          <p:pic>
            <p:nvPicPr>
              <p:cNvPr id="51" name="图片 50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52" name="矩形 51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D1</a:t>
                </a:r>
                <a:endParaRPr lang="zh-CN" altLang="en-US" sz="1400" dirty="0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10128000" y="2996726"/>
              <a:ext cx="1008000" cy="1008000"/>
              <a:chOff x="6384000" y="2853000"/>
              <a:chExt cx="1008000" cy="1008000"/>
            </a:xfrm>
          </p:grpSpPr>
          <p:pic>
            <p:nvPicPr>
              <p:cNvPr id="48" name="图片 47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49" name="矩形 48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D2</a:t>
                </a:r>
                <a:endParaRPr lang="zh-CN" altLang="en-US" sz="1400" dirty="0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10128000" y="4050616"/>
              <a:ext cx="1008000" cy="1008000"/>
              <a:chOff x="6384000" y="2853000"/>
              <a:chExt cx="1008000" cy="1008000"/>
            </a:xfrm>
          </p:grpSpPr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46" name="矩形 4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D3</a:t>
                </a:r>
                <a:endParaRPr lang="zh-CN" altLang="en-US" sz="1400" dirty="0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0128000" y="5058342"/>
              <a:ext cx="1008000" cy="1008000"/>
              <a:chOff x="6384000" y="2853000"/>
              <a:chExt cx="1008000" cy="1008000"/>
            </a:xfrm>
          </p:grpSpPr>
          <p:pic>
            <p:nvPicPr>
              <p:cNvPr id="42" name="图片 4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43" name="矩形 42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D4</a:t>
                </a:r>
                <a:endParaRPr lang="zh-CN" altLang="en-US" sz="1400" dirty="0"/>
              </a:p>
            </p:txBody>
          </p:sp>
        </p:grpSp>
      </p:grpSp>
      <p:cxnSp>
        <p:nvCxnSpPr>
          <p:cNvPr id="148" name="直接连接符 109"/>
          <p:cNvCxnSpPr/>
          <p:nvPr/>
        </p:nvCxnSpPr>
        <p:spPr>
          <a:xfrm>
            <a:off x="7175782" y="2195350"/>
            <a:ext cx="3858725" cy="0"/>
          </a:xfrm>
          <a:prstGeom prst="line">
            <a:avLst/>
          </a:prstGeom>
          <a:ln w="38100">
            <a:solidFill>
              <a:srgbClr val="A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11"/>
          <p:cNvCxnSpPr/>
          <p:nvPr/>
        </p:nvCxnSpPr>
        <p:spPr>
          <a:xfrm flipV="1">
            <a:off x="7175782" y="2195350"/>
            <a:ext cx="0" cy="275745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 149"/>
          <p:cNvSpPr/>
          <p:nvPr/>
        </p:nvSpPr>
        <p:spPr>
          <a:xfrm>
            <a:off x="11257569" y="1885857"/>
            <a:ext cx="697627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起点</a:t>
            </a:r>
            <a:endParaRPr lang="en-US" altLang="zh-CN" sz="20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6849964" y="5224157"/>
            <a:ext cx="697627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终点</a:t>
            </a:r>
            <a:endParaRPr lang="en-US" altLang="zh-CN" sz="20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5" name="组合 154"/>
          <p:cNvGrpSpPr/>
          <p:nvPr/>
        </p:nvGrpSpPr>
        <p:grpSpPr>
          <a:xfrm>
            <a:off x="6968815" y="4893890"/>
            <a:ext cx="505914" cy="420131"/>
            <a:chOff x="5133109" y="4754940"/>
            <a:chExt cx="505914" cy="420131"/>
          </a:xfrm>
        </p:grpSpPr>
        <p:sp>
          <p:nvSpPr>
            <p:cNvPr id="156" name="椭圆 155"/>
            <p:cNvSpPr/>
            <p:nvPr/>
          </p:nvSpPr>
          <p:spPr>
            <a:xfrm>
              <a:off x="5133109" y="4754940"/>
              <a:ext cx="420131" cy="420131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文本框 156"/>
            <p:cNvSpPr txBox="1"/>
            <p:nvPr/>
          </p:nvSpPr>
          <p:spPr>
            <a:xfrm>
              <a:off x="5133109" y="4770616"/>
              <a:ext cx="50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</a:rPr>
                <a:t>B3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8" name="组合 157"/>
          <p:cNvGrpSpPr/>
          <p:nvPr/>
        </p:nvGrpSpPr>
        <p:grpSpPr>
          <a:xfrm>
            <a:off x="10821331" y="1965350"/>
            <a:ext cx="505914" cy="420131"/>
            <a:chOff x="5133109" y="4754940"/>
            <a:chExt cx="505914" cy="420131"/>
          </a:xfrm>
        </p:grpSpPr>
        <p:sp>
          <p:nvSpPr>
            <p:cNvPr id="159" name="椭圆 158"/>
            <p:cNvSpPr/>
            <p:nvPr/>
          </p:nvSpPr>
          <p:spPr>
            <a:xfrm>
              <a:off x="5133109" y="4754940"/>
              <a:ext cx="420131" cy="420131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文本框 159"/>
            <p:cNvSpPr txBox="1"/>
            <p:nvPr/>
          </p:nvSpPr>
          <p:spPr>
            <a:xfrm>
              <a:off x="5133109" y="4770616"/>
              <a:ext cx="50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</a:rPr>
                <a:t>D1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10598001" y="881995"/>
            <a:ext cx="906796" cy="1281771"/>
            <a:chOff x="11095516" y="1060242"/>
            <a:chExt cx="906796" cy="1281771"/>
          </a:xfrm>
        </p:grpSpPr>
        <p:pic>
          <p:nvPicPr>
            <p:cNvPr id="162" name="图片 161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059" t="-3215" r="-12617" b="-4037"/>
            <a:stretch>
              <a:fillRect/>
            </a:stretch>
          </p:blipFill>
          <p:spPr>
            <a:xfrm>
              <a:off x="11443982" y="1060242"/>
              <a:ext cx="558330" cy="1281771"/>
            </a:xfrm>
            <a:prstGeom prst="rect">
              <a:avLst/>
            </a:prstGeom>
          </p:spPr>
        </p:pic>
        <p:pic>
          <p:nvPicPr>
            <p:cNvPr id="163" name="图片 162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1095516" y="1573691"/>
              <a:ext cx="702469" cy="70246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 numSld="999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直接连接符 114"/>
          <p:cNvCxnSpPr/>
          <p:nvPr/>
        </p:nvCxnSpPr>
        <p:spPr>
          <a:xfrm flipV="1">
            <a:off x="2654855" y="1339094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组合 115"/>
          <p:cNvGrpSpPr/>
          <p:nvPr/>
        </p:nvGrpSpPr>
        <p:grpSpPr>
          <a:xfrm>
            <a:off x="1979114" y="1066575"/>
            <a:ext cx="445481" cy="469613"/>
            <a:chOff x="2121873" y="1511588"/>
            <a:chExt cx="445481" cy="469613"/>
          </a:xfrm>
        </p:grpSpPr>
        <p:sp>
          <p:nvSpPr>
            <p:cNvPr id="117" name="矩形 116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19" name="文本框 12"/>
          <p:cNvSpPr txBox="1"/>
          <p:nvPr>
            <p:custDataLst>
              <p:tags r:id="rId1"/>
            </p:custDataLst>
          </p:nvPr>
        </p:nvSpPr>
        <p:spPr>
          <a:xfrm>
            <a:off x="2654855" y="744319"/>
            <a:ext cx="717931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活动：把车推到目的地</a:t>
            </a:r>
            <a:endParaRPr lang="zh-CN" altLang="en-US" sz="3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826133" y="2139449"/>
            <a:ext cx="5053867" cy="120570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9pPr>
          </a:lstStyle>
          <a:p>
            <a:pPr marL="0" marR="0" lvl="0" indent="720090" algn="l" defTabSz="914400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在指定的路线上，</a:t>
            </a:r>
            <a:endParaRPr kumimoji="0" lang="en-US" altLang="zh-CN" sz="2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720090" algn="l" defTabSz="914400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把</a:t>
            </a: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小车推到目的地。</a:t>
            </a:r>
            <a:endParaRPr kumimoji="0" lang="zh-CN" sz="2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023782" y="2267350"/>
            <a:ext cx="5112000" cy="4077616"/>
            <a:chOff x="6024000" y="1989000"/>
            <a:chExt cx="5112000" cy="4077616"/>
          </a:xfrm>
        </p:grpSpPr>
        <p:grpSp>
          <p:nvGrpSpPr>
            <p:cNvPr id="18" name="组合 17"/>
            <p:cNvGrpSpPr/>
            <p:nvPr/>
          </p:nvGrpSpPr>
          <p:grpSpPr>
            <a:xfrm>
              <a:off x="6024000" y="1989274"/>
              <a:ext cx="1008000" cy="1008000"/>
              <a:chOff x="6384000" y="2853000"/>
              <a:chExt cx="1008000" cy="1008000"/>
            </a:xfrm>
          </p:grpSpPr>
          <p:pic>
            <p:nvPicPr>
              <p:cNvPr id="145" name="图片 14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46" name="矩形 14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文本框 14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A1</a:t>
                </a:r>
                <a:endParaRPr lang="zh-CN" altLang="en-US" sz="1400" dirty="0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6024000" y="2997000"/>
              <a:ext cx="1008000" cy="1008000"/>
              <a:chOff x="6384000" y="2853000"/>
              <a:chExt cx="1008000" cy="1008000"/>
            </a:xfrm>
          </p:grpSpPr>
          <p:pic>
            <p:nvPicPr>
              <p:cNvPr id="142" name="图片 14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43" name="矩形 142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文本框 143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A2</a:t>
                </a:r>
                <a:endParaRPr lang="zh-CN" altLang="en-US" sz="1400" dirty="0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6024000" y="4050890"/>
              <a:ext cx="1008000" cy="1008000"/>
              <a:chOff x="6384000" y="2853000"/>
              <a:chExt cx="1008000" cy="1008000"/>
            </a:xfrm>
          </p:grpSpPr>
          <p:pic>
            <p:nvPicPr>
              <p:cNvPr id="139" name="图片 13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40" name="矩形 13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文本框 14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A3</a:t>
                </a:r>
                <a:endParaRPr lang="zh-CN" altLang="en-US" sz="1400" dirty="0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6024000" y="5058616"/>
              <a:ext cx="1008000" cy="1008000"/>
              <a:chOff x="6384000" y="2853000"/>
              <a:chExt cx="1008000" cy="1008000"/>
            </a:xfrm>
          </p:grpSpPr>
          <p:pic>
            <p:nvPicPr>
              <p:cNvPr id="136" name="图片 13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37" name="矩形 136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文本框 137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A4</a:t>
                </a:r>
                <a:endParaRPr lang="zh-CN" altLang="en-US" sz="1400" dirty="0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7392000" y="1989274"/>
              <a:ext cx="1008000" cy="1008000"/>
              <a:chOff x="6384000" y="2853000"/>
              <a:chExt cx="1008000" cy="1008000"/>
            </a:xfrm>
          </p:grpSpPr>
          <p:pic>
            <p:nvPicPr>
              <p:cNvPr id="133" name="图片 13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34" name="矩形 133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文本框 134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B1</a:t>
                </a:r>
                <a:endParaRPr lang="zh-CN" altLang="en-US" sz="1400" dirty="0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7392000" y="2997000"/>
              <a:ext cx="1008000" cy="1008000"/>
              <a:chOff x="6384000" y="2853000"/>
              <a:chExt cx="1008000" cy="1008000"/>
            </a:xfrm>
          </p:grpSpPr>
          <p:pic>
            <p:nvPicPr>
              <p:cNvPr id="130" name="图片 12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31" name="矩形 130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文本框 131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B2</a:t>
                </a:r>
                <a:endParaRPr lang="zh-CN" altLang="en-US" sz="1400" dirty="0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7392000" y="4050890"/>
              <a:ext cx="1008000" cy="1008000"/>
              <a:chOff x="6384000" y="2853000"/>
              <a:chExt cx="1008000" cy="1008000"/>
            </a:xfrm>
          </p:grpSpPr>
          <p:pic>
            <p:nvPicPr>
              <p:cNvPr id="127" name="图片 12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28" name="矩形 127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文本框 12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B3</a:t>
                </a:r>
                <a:endParaRPr lang="zh-CN" altLang="en-US" sz="1400" dirty="0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7392000" y="5058616"/>
              <a:ext cx="1008000" cy="1008000"/>
              <a:chOff x="6384000" y="2853000"/>
              <a:chExt cx="1008000" cy="1008000"/>
            </a:xfrm>
          </p:grpSpPr>
          <p:pic>
            <p:nvPicPr>
              <p:cNvPr id="124" name="图片 12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25" name="矩形 124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文本框 125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B4</a:t>
                </a:r>
                <a:endParaRPr lang="zh-CN" altLang="en-US" sz="1400" dirty="0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8760000" y="1989000"/>
              <a:ext cx="1008000" cy="1008000"/>
              <a:chOff x="6384000" y="2853000"/>
              <a:chExt cx="1008000" cy="1008000"/>
            </a:xfrm>
          </p:grpSpPr>
          <p:pic>
            <p:nvPicPr>
              <p:cNvPr id="121" name="图片 12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22" name="矩形 121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文本框 122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C1</a:t>
                </a:r>
                <a:endParaRPr lang="zh-CN" altLang="en-US" sz="1400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8760000" y="2996726"/>
              <a:ext cx="1008000" cy="1008000"/>
              <a:chOff x="6384000" y="2853000"/>
              <a:chExt cx="1008000" cy="1008000"/>
            </a:xfrm>
          </p:grpSpPr>
          <p:pic>
            <p:nvPicPr>
              <p:cNvPr id="111" name="图片 11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13" name="矩形 112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文本框 119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C2</a:t>
                </a:r>
                <a:endParaRPr lang="zh-CN" altLang="en-US" sz="1400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8760000" y="4050616"/>
              <a:ext cx="1008000" cy="1008000"/>
              <a:chOff x="6384000" y="2853000"/>
              <a:chExt cx="1008000" cy="1008000"/>
            </a:xfrm>
          </p:grpSpPr>
          <p:pic>
            <p:nvPicPr>
              <p:cNvPr id="57" name="图片 5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07" name="矩形 106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文本框 10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C3</a:t>
                </a:r>
                <a:endParaRPr lang="zh-CN" altLang="en-US" sz="1400" dirty="0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8760000" y="5058342"/>
              <a:ext cx="1008000" cy="1008000"/>
              <a:chOff x="6384000" y="2853000"/>
              <a:chExt cx="1008000" cy="1008000"/>
            </a:xfrm>
          </p:grpSpPr>
          <p:pic>
            <p:nvPicPr>
              <p:cNvPr id="54" name="图片 5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55" name="矩形 54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C4</a:t>
                </a:r>
                <a:endParaRPr lang="zh-CN" altLang="en-US" sz="1400" dirty="0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0128000" y="1989000"/>
              <a:ext cx="1008000" cy="1008000"/>
              <a:chOff x="6384000" y="2853000"/>
              <a:chExt cx="1008000" cy="1008000"/>
            </a:xfrm>
          </p:grpSpPr>
          <p:pic>
            <p:nvPicPr>
              <p:cNvPr id="51" name="图片 5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52" name="矩形 51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D1</a:t>
                </a:r>
                <a:endParaRPr lang="zh-CN" altLang="en-US" sz="1400" dirty="0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10128000" y="2996726"/>
              <a:ext cx="1008000" cy="1008000"/>
              <a:chOff x="6384000" y="2853000"/>
              <a:chExt cx="1008000" cy="1008000"/>
            </a:xfrm>
          </p:grpSpPr>
          <p:pic>
            <p:nvPicPr>
              <p:cNvPr id="48" name="图片 4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49" name="矩形 48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D2</a:t>
                </a:r>
                <a:endParaRPr lang="zh-CN" altLang="en-US" sz="1400" dirty="0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10128000" y="4050616"/>
              <a:ext cx="1008000" cy="1008000"/>
              <a:chOff x="6384000" y="2853000"/>
              <a:chExt cx="1008000" cy="1008000"/>
            </a:xfrm>
          </p:grpSpPr>
          <p:pic>
            <p:nvPicPr>
              <p:cNvPr id="45" name="图片 4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46" name="矩形 4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D3</a:t>
                </a:r>
                <a:endParaRPr lang="zh-CN" altLang="en-US" sz="1400" dirty="0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0128000" y="5058342"/>
              <a:ext cx="1008000" cy="1008000"/>
              <a:chOff x="6384000" y="2853000"/>
              <a:chExt cx="1008000" cy="1008000"/>
            </a:xfrm>
          </p:grpSpPr>
          <p:pic>
            <p:nvPicPr>
              <p:cNvPr id="42" name="图片 4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43" name="矩形 42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D4</a:t>
                </a:r>
                <a:endParaRPr lang="zh-CN" altLang="en-US" sz="1400" dirty="0"/>
              </a:p>
            </p:txBody>
          </p:sp>
        </p:grpSp>
      </p:grpSp>
      <p:cxnSp>
        <p:nvCxnSpPr>
          <p:cNvPr id="148" name="直接连接符 109"/>
          <p:cNvCxnSpPr/>
          <p:nvPr/>
        </p:nvCxnSpPr>
        <p:spPr>
          <a:xfrm>
            <a:off x="7175782" y="2195350"/>
            <a:ext cx="3858725" cy="0"/>
          </a:xfrm>
          <a:prstGeom prst="line">
            <a:avLst/>
          </a:prstGeom>
          <a:ln w="38100">
            <a:solidFill>
              <a:srgbClr val="A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11"/>
          <p:cNvCxnSpPr/>
          <p:nvPr/>
        </p:nvCxnSpPr>
        <p:spPr>
          <a:xfrm flipV="1">
            <a:off x="7175782" y="2195350"/>
            <a:ext cx="0" cy="275745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 149"/>
          <p:cNvSpPr/>
          <p:nvPr/>
        </p:nvSpPr>
        <p:spPr>
          <a:xfrm>
            <a:off x="11257569" y="1885857"/>
            <a:ext cx="697627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起点</a:t>
            </a:r>
            <a:endParaRPr lang="en-US" altLang="zh-CN" sz="20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6849964" y="5224157"/>
            <a:ext cx="697627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终点</a:t>
            </a:r>
            <a:endParaRPr lang="en-US" altLang="zh-CN" sz="20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5" name="组合 154"/>
          <p:cNvGrpSpPr/>
          <p:nvPr/>
        </p:nvGrpSpPr>
        <p:grpSpPr>
          <a:xfrm>
            <a:off x="6968815" y="4893890"/>
            <a:ext cx="505914" cy="420131"/>
            <a:chOff x="5133109" y="4754940"/>
            <a:chExt cx="505914" cy="420131"/>
          </a:xfrm>
        </p:grpSpPr>
        <p:sp>
          <p:nvSpPr>
            <p:cNvPr id="156" name="椭圆 155"/>
            <p:cNvSpPr/>
            <p:nvPr/>
          </p:nvSpPr>
          <p:spPr>
            <a:xfrm>
              <a:off x="5133109" y="4754940"/>
              <a:ext cx="420131" cy="420131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文本框 156"/>
            <p:cNvSpPr txBox="1"/>
            <p:nvPr/>
          </p:nvSpPr>
          <p:spPr>
            <a:xfrm>
              <a:off x="5133109" y="4770616"/>
              <a:ext cx="50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</a:rPr>
                <a:t>B3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8" name="组合 157"/>
          <p:cNvGrpSpPr/>
          <p:nvPr/>
        </p:nvGrpSpPr>
        <p:grpSpPr>
          <a:xfrm>
            <a:off x="10821331" y="1965350"/>
            <a:ext cx="505914" cy="420131"/>
            <a:chOff x="5133109" y="4754940"/>
            <a:chExt cx="505914" cy="420131"/>
          </a:xfrm>
        </p:grpSpPr>
        <p:sp>
          <p:nvSpPr>
            <p:cNvPr id="159" name="椭圆 158"/>
            <p:cNvSpPr/>
            <p:nvPr/>
          </p:nvSpPr>
          <p:spPr>
            <a:xfrm>
              <a:off x="5133109" y="4754940"/>
              <a:ext cx="420131" cy="420131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文本框 159"/>
            <p:cNvSpPr txBox="1"/>
            <p:nvPr/>
          </p:nvSpPr>
          <p:spPr>
            <a:xfrm>
              <a:off x="5133109" y="4770616"/>
              <a:ext cx="50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</a:rPr>
                <a:t>D1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 flipH="1">
            <a:off x="6731429" y="1124703"/>
            <a:ext cx="906796" cy="1281771"/>
            <a:chOff x="11095516" y="1060242"/>
            <a:chExt cx="906796" cy="1281771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059" t="-3215" r="-12617" b="-4037"/>
            <a:stretch>
              <a:fillRect/>
            </a:stretch>
          </p:blipFill>
          <p:spPr>
            <a:xfrm>
              <a:off x="11443982" y="1060242"/>
              <a:ext cx="558330" cy="1281771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1095516" y="1573691"/>
              <a:ext cx="702469" cy="70246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05"/>
          <p:cNvGrpSpPr/>
          <p:nvPr/>
        </p:nvGrpSpPr>
        <p:grpSpPr>
          <a:xfrm>
            <a:off x="6384000" y="2205000"/>
            <a:ext cx="5112000" cy="4077616"/>
            <a:chOff x="6024000" y="1989000"/>
            <a:chExt cx="5112000" cy="4077616"/>
          </a:xfrm>
        </p:grpSpPr>
        <p:grpSp>
          <p:nvGrpSpPr>
            <p:cNvPr id="2" name="组合 1"/>
            <p:cNvGrpSpPr/>
            <p:nvPr/>
          </p:nvGrpSpPr>
          <p:grpSpPr>
            <a:xfrm>
              <a:off x="6024000" y="1989274"/>
              <a:ext cx="1008000" cy="1008000"/>
              <a:chOff x="6384000" y="2853000"/>
              <a:chExt cx="1008000" cy="1008000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6" name="矩形 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A1</a:t>
                </a:r>
                <a:endParaRPr lang="zh-CN" altLang="en-US" sz="1400" dirty="0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6024000" y="2997000"/>
              <a:ext cx="1008000" cy="1008000"/>
              <a:chOff x="6384000" y="2853000"/>
              <a:chExt cx="1008000" cy="1008000"/>
            </a:xfrm>
          </p:grpSpPr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8" name="矩形 7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A2</a:t>
                </a:r>
                <a:endParaRPr lang="zh-CN" altLang="en-US" sz="1400" dirty="0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6024000" y="4050890"/>
              <a:ext cx="1008000" cy="1008000"/>
              <a:chOff x="6384000" y="2853000"/>
              <a:chExt cx="1008000" cy="1008000"/>
            </a:xfrm>
          </p:grpSpPr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36" name="矩形 3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A3</a:t>
                </a:r>
                <a:endParaRPr lang="zh-CN" altLang="en-US" sz="1400" dirty="0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6024000" y="5058616"/>
              <a:ext cx="1008000" cy="1008000"/>
              <a:chOff x="6384000" y="2853000"/>
              <a:chExt cx="1008000" cy="1008000"/>
            </a:xfrm>
          </p:grpSpPr>
          <p:pic>
            <p:nvPicPr>
              <p:cNvPr id="39" name="图片 3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40" name="矩形 3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A4</a:t>
                </a:r>
                <a:endParaRPr lang="zh-CN" altLang="en-US" sz="1400" dirty="0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7392000" y="1989274"/>
              <a:ext cx="1008000" cy="1008000"/>
              <a:chOff x="6384000" y="2853000"/>
              <a:chExt cx="1008000" cy="1008000"/>
            </a:xfrm>
          </p:grpSpPr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60" name="矩形 5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B1</a:t>
                </a:r>
                <a:endParaRPr lang="zh-CN" altLang="en-US" sz="1400" dirty="0"/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7392000" y="2997000"/>
              <a:ext cx="1008000" cy="1008000"/>
              <a:chOff x="6384000" y="2853000"/>
              <a:chExt cx="1008000" cy="1008000"/>
            </a:xfrm>
          </p:grpSpPr>
          <p:pic>
            <p:nvPicPr>
              <p:cNvPr id="63" name="图片 6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64" name="矩形 63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B2</a:t>
                </a:r>
                <a:endParaRPr lang="zh-CN" altLang="en-US" sz="1400" dirty="0"/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7392000" y="4050890"/>
              <a:ext cx="1008000" cy="1008000"/>
              <a:chOff x="6384000" y="2853000"/>
              <a:chExt cx="1008000" cy="1008000"/>
            </a:xfrm>
          </p:grpSpPr>
          <p:pic>
            <p:nvPicPr>
              <p:cNvPr id="67" name="图片 66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68" name="矩形 67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B3</a:t>
                </a:r>
                <a:endParaRPr lang="zh-CN" altLang="en-US" sz="1400" dirty="0"/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7392000" y="5058616"/>
              <a:ext cx="1008000" cy="1008000"/>
              <a:chOff x="6384000" y="2853000"/>
              <a:chExt cx="1008000" cy="1008000"/>
            </a:xfrm>
          </p:grpSpPr>
          <p:pic>
            <p:nvPicPr>
              <p:cNvPr id="71" name="图片 7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72" name="矩形 71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B4</a:t>
                </a:r>
                <a:endParaRPr lang="zh-CN" altLang="en-US" sz="1400" dirty="0"/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8760000" y="1989000"/>
              <a:ext cx="1008000" cy="1008000"/>
              <a:chOff x="6384000" y="2853000"/>
              <a:chExt cx="1008000" cy="1008000"/>
            </a:xfrm>
          </p:grpSpPr>
          <p:pic>
            <p:nvPicPr>
              <p:cNvPr id="75" name="图片 7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76" name="矩形 7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C1</a:t>
                </a:r>
                <a:endParaRPr lang="zh-CN" altLang="en-US" sz="1400" dirty="0"/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8760000" y="2996726"/>
              <a:ext cx="1008000" cy="1008000"/>
              <a:chOff x="6384000" y="2853000"/>
              <a:chExt cx="1008000" cy="1008000"/>
            </a:xfrm>
          </p:grpSpPr>
          <p:pic>
            <p:nvPicPr>
              <p:cNvPr id="79" name="图片 7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80" name="矩形 7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文本框 8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C2</a:t>
                </a:r>
                <a:endParaRPr lang="zh-CN" altLang="en-US" sz="1400" dirty="0"/>
              </a:p>
            </p:txBody>
          </p:sp>
        </p:grpSp>
        <p:grpSp>
          <p:nvGrpSpPr>
            <p:cNvPr id="82" name="组合 81"/>
            <p:cNvGrpSpPr/>
            <p:nvPr/>
          </p:nvGrpSpPr>
          <p:grpSpPr>
            <a:xfrm>
              <a:off x="8760000" y="4050616"/>
              <a:ext cx="1008000" cy="1008000"/>
              <a:chOff x="6384000" y="2853000"/>
              <a:chExt cx="1008000" cy="1008000"/>
            </a:xfrm>
          </p:grpSpPr>
          <p:pic>
            <p:nvPicPr>
              <p:cNvPr id="83" name="图片 8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84" name="矩形 83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C3</a:t>
                </a:r>
                <a:endParaRPr lang="zh-CN" altLang="en-US" sz="1400" dirty="0"/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8760000" y="5058342"/>
              <a:ext cx="1008000" cy="1008000"/>
              <a:chOff x="6384000" y="2853000"/>
              <a:chExt cx="1008000" cy="1008000"/>
            </a:xfrm>
          </p:grpSpPr>
          <p:pic>
            <p:nvPicPr>
              <p:cNvPr id="87" name="图片 86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88" name="矩形 87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C4</a:t>
                </a:r>
                <a:endParaRPr lang="zh-CN" altLang="en-US" sz="1400" dirty="0"/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10128000" y="1989000"/>
              <a:ext cx="1008000" cy="1008000"/>
              <a:chOff x="6384000" y="2853000"/>
              <a:chExt cx="1008000" cy="1008000"/>
            </a:xfrm>
          </p:grpSpPr>
          <p:pic>
            <p:nvPicPr>
              <p:cNvPr id="91" name="图片 9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92" name="矩形 91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D1</a:t>
                </a:r>
                <a:endParaRPr lang="zh-CN" altLang="en-US" sz="1400" dirty="0"/>
              </a:p>
            </p:txBody>
          </p:sp>
        </p:grpSp>
        <p:grpSp>
          <p:nvGrpSpPr>
            <p:cNvPr id="94" name="组合 93"/>
            <p:cNvGrpSpPr/>
            <p:nvPr/>
          </p:nvGrpSpPr>
          <p:grpSpPr>
            <a:xfrm>
              <a:off x="10128000" y="2996726"/>
              <a:ext cx="1008000" cy="1008000"/>
              <a:chOff x="6384000" y="2853000"/>
              <a:chExt cx="1008000" cy="1008000"/>
            </a:xfrm>
          </p:grpSpPr>
          <p:pic>
            <p:nvPicPr>
              <p:cNvPr id="95" name="图片 9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96" name="矩形 9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D2</a:t>
                </a:r>
                <a:endParaRPr lang="zh-CN" altLang="en-US" sz="1400" dirty="0"/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>
              <a:off x="10128000" y="4050616"/>
              <a:ext cx="1008000" cy="1008000"/>
              <a:chOff x="6384000" y="2853000"/>
              <a:chExt cx="1008000" cy="1008000"/>
            </a:xfrm>
          </p:grpSpPr>
          <p:pic>
            <p:nvPicPr>
              <p:cNvPr id="99" name="图片 9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00" name="矩形 9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文本框 10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D3</a:t>
                </a:r>
                <a:endParaRPr lang="zh-CN" altLang="en-US" sz="1400" dirty="0"/>
              </a:p>
            </p:txBody>
          </p:sp>
        </p:grpSp>
        <p:grpSp>
          <p:nvGrpSpPr>
            <p:cNvPr id="102" name="组合 101"/>
            <p:cNvGrpSpPr/>
            <p:nvPr/>
          </p:nvGrpSpPr>
          <p:grpSpPr>
            <a:xfrm>
              <a:off x="10128000" y="5058342"/>
              <a:ext cx="1008000" cy="1008000"/>
              <a:chOff x="6384000" y="2853000"/>
              <a:chExt cx="1008000" cy="1008000"/>
            </a:xfrm>
          </p:grpSpPr>
          <p:pic>
            <p:nvPicPr>
              <p:cNvPr id="103" name="图片 10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04" name="矩形 103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D4</a:t>
                </a:r>
                <a:endParaRPr lang="zh-CN" altLang="en-US" sz="1400" dirty="0"/>
              </a:p>
            </p:txBody>
          </p:sp>
        </p:grpSp>
      </p:grpSp>
      <p:sp>
        <p:nvSpPr>
          <p:cNvPr id="11" name="矩形 10"/>
          <p:cNvSpPr/>
          <p:nvPr/>
        </p:nvSpPr>
        <p:spPr>
          <a:xfrm>
            <a:off x="9966424" y="4297200"/>
            <a:ext cx="697627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终点</a:t>
            </a:r>
            <a:endParaRPr lang="en-US" altLang="zh-CN" sz="20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0085275" y="3966933"/>
            <a:ext cx="505914" cy="420131"/>
            <a:chOff x="5133109" y="4754940"/>
            <a:chExt cx="505914" cy="420131"/>
          </a:xfrm>
        </p:grpSpPr>
        <p:sp>
          <p:nvSpPr>
            <p:cNvPr id="13" name="椭圆 12"/>
            <p:cNvSpPr/>
            <p:nvPr/>
          </p:nvSpPr>
          <p:spPr>
            <a:xfrm>
              <a:off x="5133109" y="4754940"/>
              <a:ext cx="420131" cy="420131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133109" y="4770616"/>
              <a:ext cx="50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</a:rPr>
                <a:t>D2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7247105" y="5295672"/>
            <a:ext cx="697627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lang="zh-CN" altLang="en-US" sz="20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起点</a:t>
            </a:r>
            <a:endParaRPr lang="en-US" altLang="zh-CN" sz="20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7365956" y="4965405"/>
            <a:ext cx="505914" cy="420131"/>
            <a:chOff x="5133109" y="4754940"/>
            <a:chExt cx="505914" cy="420131"/>
          </a:xfrm>
        </p:grpSpPr>
        <p:sp>
          <p:nvSpPr>
            <p:cNvPr id="22" name="椭圆 21"/>
            <p:cNvSpPr/>
            <p:nvPr/>
          </p:nvSpPr>
          <p:spPr>
            <a:xfrm>
              <a:off x="5133109" y="4754940"/>
              <a:ext cx="420131" cy="420131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133109" y="4770616"/>
              <a:ext cx="50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</a:rPr>
                <a:t>B3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15" name="直接连接符 114"/>
          <p:cNvCxnSpPr/>
          <p:nvPr/>
        </p:nvCxnSpPr>
        <p:spPr>
          <a:xfrm flipV="1">
            <a:off x="2654855" y="1339094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组合 115"/>
          <p:cNvGrpSpPr/>
          <p:nvPr/>
        </p:nvGrpSpPr>
        <p:grpSpPr>
          <a:xfrm>
            <a:off x="1979114" y="1066575"/>
            <a:ext cx="445481" cy="469613"/>
            <a:chOff x="2121873" y="1511588"/>
            <a:chExt cx="445481" cy="469613"/>
          </a:xfrm>
        </p:grpSpPr>
        <p:sp>
          <p:nvSpPr>
            <p:cNvPr id="117" name="矩形 116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19" name="文本框 12"/>
          <p:cNvSpPr txBox="1"/>
          <p:nvPr>
            <p:custDataLst>
              <p:tags r:id="rId2"/>
            </p:custDataLst>
          </p:nvPr>
        </p:nvSpPr>
        <p:spPr>
          <a:xfrm>
            <a:off x="2654855" y="744319"/>
            <a:ext cx="717931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活动：把车推到目的地</a:t>
            </a:r>
            <a:endParaRPr lang="zh-CN" altLang="en-US" sz="3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12372" y="3903940"/>
            <a:ext cx="5540527" cy="1433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720090" algn="l" defTabSz="914400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1.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你是怎样控制小车往前走的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?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lvl="0" indent="720090" eaLnBrk="0" fontAlgn="base" hangingPunct="0">
              <a:lnSpc>
                <a:spcPts val="3600"/>
              </a:lnSpc>
              <a:spcAft>
                <a:spcPct val="0"/>
              </a:spcAft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2.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你是怎样控制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小车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加速和减速的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?</a:t>
            </a:r>
            <a:endParaRPr lang="en-US" altLang="zh-CN" sz="20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0" indent="720090" eaLnBrk="0" fontAlgn="base" hangingPunct="0">
              <a:lnSpc>
                <a:spcPts val="3600"/>
              </a:lnSpc>
              <a:spcAft>
                <a:spcPct val="0"/>
              </a:spcAft>
              <a:defRPr/>
            </a:pPr>
            <a:r>
              <a:rPr lang="en-US" altLang="zh-CN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.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你是怎样控制</a:t>
            </a:r>
            <a:r>
              <a:rPr lang="zh-CN" altLang="en-US" sz="20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小车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改变前进方向的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?</a:t>
            </a: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pic>
        <p:nvPicPr>
          <p:cNvPr id="17" name="附件2  课内练习背景音乐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trim st="1752.000000" end="72953.851563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034010" y="4937463"/>
            <a:ext cx="609600" cy="6096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19269" y="2583300"/>
            <a:ext cx="5053867" cy="120570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  <a:cs typeface="+mn-cs"/>
              </a:defRPr>
            </a:lvl9pPr>
          </a:lstStyle>
          <a:p>
            <a:pPr marL="0" marR="0" lvl="0" indent="720090" algn="l" defTabSz="914400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把</a:t>
            </a: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小车推到</a:t>
            </a:r>
            <a:r>
              <a:rPr kumimoji="0" lang="en-US" altLang="zh-CN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D2</a:t>
            </a:r>
            <a:r>
              <a:rPr kumimoji="0" lang="zh-CN" alt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目的地。</a:t>
            </a:r>
            <a:endParaRPr kumimoji="0" lang="zh-CN" sz="2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14" name="组合 13"/>
          <p:cNvGrpSpPr/>
          <p:nvPr/>
        </p:nvGrpSpPr>
        <p:grpSpPr>
          <a:xfrm flipH="1">
            <a:off x="7138316" y="3964750"/>
            <a:ext cx="899604" cy="1207326"/>
            <a:chOff x="11095516" y="1118231"/>
            <a:chExt cx="899604" cy="1207326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29" b="2370"/>
            <a:stretch>
              <a:fillRect/>
            </a:stretch>
          </p:blipFill>
          <p:spPr>
            <a:xfrm>
              <a:off x="11444166" y="1118231"/>
              <a:ext cx="550954" cy="1207326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1095516" y="1573691"/>
              <a:ext cx="702469" cy="70246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组合 105"/>
          <p:cNvGrpSpPr/>
          <p:nvPr/>
        </p:nvGrpSpPr>
        <p:grpSpPr>
          <a:xfrm>
            <a:off x="1848000" y="1989000"/>
            <a:ext cx="5112000" cy="4077616"/>
            <a:chOff x="6024000" y="1989000"/>
            <a:chExt cx="5112000" cy="4077616"/>
          </a:xfrm>
        </p:grpSpPr>
        <p:grpSp>
          <p:nvGrpSpPr>
            <p:cNvPr id="2" name="组合 1"/>
            <p:cNvGrpSpPr/>
            <p:nvPr/>
          </p:nvGrpSpPr>
          <p:grpSpPr>
            <a:xfrm>
              <a:off x="6024000" y="1989274"/>
              <a:ext cx="1008000" cy="1008000"/>
              <a:chOff x="6384000" y="2853000"/>
              <a:chExt cx="1008000" cy="1008000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6" name="矩形 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A1</a:t>
                </a:r>
                <a:endParaRPr lang="zh-CN" altLang="en-US" sz="1400" dirty="0"/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6024000" y="2997000"/>
              <a:ext cx="1008000" cy="1008000"/>
              <a:chOff x="6384000" y="2853000"/>
              <a:chExt cx="1008000" cy="1008000"/>
            </a:xfrm>
          </p:grpSpPr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8" name="矩形 7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A2</a:t>
                </a:r>
                <a:endParaRPr lang="zh-CN" altLang="en-US" sz="1400" dirty="0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6024000" y="4050890"/>
              <a:ext cx="1008000" cy="1008000"/>
              <a:chOff x="6384000" y="2853000"/>
              <a:chExt cx="1008000" cy="1008000"/>
            </a:xfrm>
          </p:grpSpPr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36" name="矩形 3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A3</a:t>
                </a:r>
                <a:endParaRPr lang="zh-CN" altLang="en-US" sz="1400" dirty="0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6024000" y="5058616"/>
              <a:ext cx="1008000" cy="1008000"/>
              <a:chOff x="6384000" y="2853000"/>
              <a:chExt cx="1008000" cy="1008000"/>
            </a:xfrm>
          </p:grpSpPr>
          <p:pic>
            <p:nvPicPr>
              <p:cNvPr id="39" name="图片 3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40" name="矩形 3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A4</a:t>
                </a:r>
                <a:endParaRPr lang="zh-CN" altLang="en-US" sz="1400" dirty="0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7392000" y="1989274"/>
              <a:ext cx="1008000" cy="1008000"/>
              <a:chOff x="6384000" y="2853000"/>
              <a:chExt cx="1008000" cy="1008000"/>
            </a:xfrm>
          </p:grpSpPr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60" name="矩形 5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B1</a:t>
                </a:r>
                <a:endParaRPr lang="zh-CN" altLang="en-US" sz="1400" dirty="0"/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7392000" y="2997000"/>
              <a:ext cx="1008000" cy="1008000"/>
              <a:chOff x="6384000" y="2853000"/>
              <a:chExt cx="1008000" cy="1008000"/>
            </a:xfrm>
          </p:grpSpPr>
          <p:pic>
            <p:nvPicPr>
              <p:cNvPr id="63" name="图片 6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64" name="矩形 63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B2</a:t>
                </a:r>
                <a:endParaRPr lang="zh-CN" altLang="en-US" sz="1400" dirty="0"/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7392000" y="4050890"/>
              <a:ext cx="1008000" cy="1008000"/>
              <a:chOff x="6384000" y="2853000"/>
              <a:chExt cx="1008000" cy="1008000"/>
            </a:xfrm>
          </p:grpSpPr>
          <p:pic>
            <p:nvPicPr>
              <p:cNvPr id="67" name="图片 66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68" name="矩形 67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B3</a:t>
                </a:r>
                <a:endParaRPr lang="zh-CN" altLang="en-US" sz="1400" dirty="0"/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7392000" y="5058616"/>
              <a:ext cx="1008000" cy="1008000"/>
              <a:chOff x="6384000" y="2853000"/>
              <a:chExt cx="1008000" cy="1008000"/>
            </a:xfrm>
          </p:grpSpPr>
          <p:pic>
            <p:nvPicPr>
              <p:cNvPr id="71" name="图片 7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72" name="矩形 71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B4</a:t>
                </a:r>
                <a:endParaRPr lang="zh-CN" altLang="en-US" sz="1400" dirty="0"/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8760000" y="1989000"/>
              <a:ext cx="1008000" cy="1008000"/>
              <a:chOff x="6384000" y="2853000"/>
              <a:chExt cx="1008000" cy="1008000"/>
            </a:xfrm>
          </p:grpSpPr>
          <p:pic>
            <p:nvPicPr>
              <p:cNvPr id="75" name="图片 7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76" name="矩形 7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C1</a:t>
                </a:r>
                <a:endParaRPr lang="zh-CN" altLang="en-US" sz="1400" dirty="0"/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8760000" y="2996726"/>
              <a:ext cx="1008000" cy="1008000"/>
              <a:chOff x="6384000" y="2853000"/>
              <a:chExt cx="1008000" cy="1008000"/>
            </a:xfrm>
          </p:grpSpPr>
          <p:pic>
            <p:nvPicPr>
              <p:cNvPr id="79" name="图片 7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80" name="矩形 7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文本框 8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C2</a:t>
                </a:r>
                <a:endParaRPr lang="zh-CN" altLang="en-US" sz="1400" dirty="0"/>
              </a:p>
            </p:txBody>
          </p:sp>
        </p:grpSp>
        <p:grpSp>
          <p:nvGrpSpPr>
            <p:cNvPr id="82" name="组合 81"/>
            <p:cNvGrpSpPr/>
            <p:nvPr/>
          </p:nvGrpSpPr>
          <p:grpSpPr>
            <a:xfrm>
              <a:off x="8760000" y="4050616"/>
              <a:ext cx="1008000" cy="1008000"/>
              <a:chOff x="6384000" y="2853000"/>
              <a:chExt cx="1008000" cy="1008000"/>
            </a:xfrm>
          </p:grpSpPr>
          <p:pic>
            <p:nvPicPr>
              <p:cNvPr id="83" name="图片 8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84" name="矩形 83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C3</a:t>
                </a:r>
                <a:endParaRPr lang="zh-CN" altLang="en-US" sz="1400" dirty="0"/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8760000" y="5058342"/>
              <a:ext cx="1008000" cy="1008000"/>
              <a:chOff x="6384000" y="2853000"/>
              <a:chExt cx="1008000" cy="1008000"/>
            </a:xfrm>
          </p:grpSpPr>
          <p:pic>
            <p:nvPicPr>
              <p:cNvPr id="87" name="图片 86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88" name="矩形 87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C4</a:t>
                </a:r>
                <a:endParaRPr lang="zh-CN" altLang="en-US" sz="1400" dirty="0"/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10128000" y="1989000"/>
              <a:ext cx="1008000" cy="1008000"/>
              <a:chOff x="6384000" y="2853000"/>
              <a:chExt cx="1008000" cy="1008000"/>
            </a:xfrm>
          </p:grpSpPr>
          <p:pic>
            <p:nvPicPr>
              <p:cNvPr id="91" name="图片 9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92" name="矩形 91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D1</a:t>
                </a:r>
                <a:endParaRPr lang="zh-CN" altLang="en-US" sz="1400" dirty="0"/>
              </a:p>
            </p:txBody>
          </p:sp>
        </p:grpSp>
        <p:grpSp>
          <p:nvGrpSpPr>
            <p:cNvPr id="94" name="组合 93"/>
            <p:cNvGrpSpPr/>
            <p:nvPr/>
          </p:nvGrpSpPr>
          <p:grpSpPr>
            <a:xfrm>
              <a:off x="10128000" y="2996726"/>
              <a:ext cx="1008000" cy="1008000"/>
              <a:chOff x="6384000" y="2853000"/>
              <a:chExt cx="1008000" cy="1008000"/>
            </a:xfrm>
          </p:grpSpPr>
          <p:pic>
            <p:nvPicPr>
              <p:cNvPr id="95" name="图片 9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96" name="矩形 95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D2</a:t>
                </a:r>
                <a:endParaRPr lang="zh-CN" altLang="en-US" sz="1400" dirty="0"/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>
              <a:off x="10128000" y="4050616"/>
              <a:ext cx="1008000" cy="1008000"/>
              <a:chOff x="6384000" y="2853000"/>
              <a:chExt cx="1008000" cy="1008000"/>
            </a:xfrm>
          </p:grpSpPr>
          <p:pic>
            <p:nvPicPr>
              <p:cNvPr id="99" name="图片 9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00" name="矩形 99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文本框 100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D3</a:t>
                </a:r>
                <a:endParaRPr lang="zh-CN" altLang="en-US" sz="1400" dirty="0"/>
              </a:p>
            </p:txBody>
          </p:sp>
        </p:grpSp>
        <p:grpSp>
          <p:nvGrpSpPr>
            <p:cNvPr id="102" name="组合 101"/>
            <p:cNvGrpSpPr/>
            <p:nvPr/>
          </p:nvGrpSpPr>
          <p:grpSpPr>
            <a:xfrm>
              <a:off x="10128000" y="5058342"/>
              <a:ext cx="1008000" cy="1008000"/>
              <a:chOff x="6384000" y="2853000"/>
              <a:chExt cx="1008000" cy="1008000"/>
            </a:xfrm>
          </p:grpSpPr>
          <p:pic>
            <p:nvPicPr>
              <p:cNvPr id="103" name="图片 10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384000" y="2853000"/>
                <a:ext cx="1008000" cy="1008000"/>
              </a:xfrm>
              <a:prstGeom prst="rect">
                <a:avLst/>
              </a:prstGeom>
            </p:spPr>
          </p:pic>
          <p:sp>
            <p:nvSpPr>
              <p:cNvPr id="104" name="矩形 103"/>
              <p:cNvSpPr/>
              <p:nvPr/>
            </p:nvSpPr>
            <p:spPr>
              <a:xfrm>
                <a:off x="6960000" y="3059112"/>
                <a:ext cx="288000" cy="21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6917275" y="3013222"/>
                <a:ext cx="4320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D4</a:t>
                </a:r>
                <a:endParaRPr lang="zh-CN" altLang="en-US" sz="1400" dirty="0"/>
              </a:p>
            </p:txBody>
          </p:sp>
        </p:grpSp>
      </p:grpSp>
      <p:cxnSp>
        <p:nvCxnSpPr>
          <p:cNvPr id="110" name="直接连接符 109"/>
          <p:cNvCxnSpPr/>
          <p:nvPr/>
        </p:nvCxnSpPr>
        <p:spPr>
          <a:xfrm flipV="1">
            <a:off x="3000000" y="1916999"/>
            <a:ext cx="2736000" cy="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 flipV="1">
            <a:off x="3000000" y="1917000"/>
            <a:ext cx="0" cy="27360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flipV="1">
            <a:off x="2654855" y="1339094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组合 115"/>
          <p:cNvGrpSpPr/>
          <p:nvPr/>
        </p:nvGrpSpPr>
        <p:grpSpPr>
          <a:xfrm>
            <a:off x="1979114" y="1066575"/>
            <a:ext cx="445481" cy="469613"/>
            <a:chOff x="2121873" y="1511588"/>
            <a:chExt cx="445481" cy="469613"/>
          </a:xfrm>
        </p:grpSpPr>
        <p:sp>
          <p:nvSpPr>
            <p:cNvPr id="117" name="矩形 116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19" name="文本框 12"/>
          <p:cNvSpPr txBox="1"/>
          <p:nvPr>
            <p:custDataLst>
              <p:tags r:id="rId2"/>
            </p:custDataLst>
          </p:nvPr>
        </p:nvSpPr>
        <p:spPr>
          <a:xfrm>
            <a:off x="2654855" y="744319"/>
            <a:ext cx="717931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活动：把车推到目的地</a:t>
            </a:r>
            <a:endParaRPr lang="zh-CN" altLang="en-US" sz="3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5736000" y="1917000"/>
            <a:ext cx="0" cy="175239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附件2  课内练习背景音乐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trim st="1752.000000" end="72953.851563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034010" y="4937463"/>
            <a:ext cx="609600" cy="609600"/>
          </a:xfrm>
          <a:prstGeom prst="rect">
            <a:avLst/>
          </a:prstGeom>
        </p:spPr>
      </p:pic>
      <p:pic>
        <p:nvPicPr>
          <p:cNvPr id="10" name="主要用手进行控制，使得小车按预定的方向、以相应的速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2282010" y="5276904"/>
            <a:ext cx="609600" cy="609600"/>
          </a:xfrm>
          <a:prstGeom prst="rect">
            <a:avLst/>
          </a:prstGeom>
        </p:spPr>
      </p:pic>
      <p:pic>
        <p:nvPicPr>
          <p:cNvPr id="12" name="因为我推着小车，但是前后座位中间比较挤，我觉得应该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631760" y="6216000"/>
            <a:ext cx="609600" cy="609600"/>
          </a:xfrm>
          <a:prstGeom prst="rect">
            <a:avLst/>
          </a:prstGeom>
        </p:spPr>
      </p:pic>
      <p:pic>
        <p:nvPicPr>
          <p:cNvPr id="13" name="不累呀，但是如果让我再来几次，我就不行了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355910" y="7173000"/>
            <a:ext cx="609600" cy="609600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 flipH="1">
            <a:off x="2617375" y="3715538"/>
            <a:ext cx="899604" cy="1207326"/>
            <a:chOff x="11095516" y="1118231"/>
            <a:chExt cx="899604" cy="1207326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29" b="2370"/>
            <a:stretch>
              <a:fillRect/>
            </a:stretch>
          </p:blipFill>
          <p:spPr>
            <a:xfrm>
              <a:off x="11444166" y="1118231"/>
              <a:ext cx="550954" cy="1207326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1095516" y="1573691"/>
              <a:ext cx="702469" cy="70246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>
                <p:cTn id="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直接连接符 114"/>
          <p:cNvCxnSpPr/>
          <p:nvPr/>
        </p:nvCxnSpPr>
        <p:spPr>
          <a:xfrm flipV="1">
            <a:off x="2654855" y="1339094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组合 115"/>
          <p:cNvGrpSpPr/>
          <p:nvPr/>
        </p:nvGrpSpPr>
        <p:grpSpPr>
          <a:xfrm>
            <a:off x="1979114" y="1066575"/>
            <a:ext cx="445481" cy="469613"/>
            <a:chOff x="2121873" y="1511588"/>
            <a:chExt cx="445481" cy="469613"/>
          </a:xfrm>
        </p:grpSpPr>
        <p:sp>
          <p:nvSpPr>
            <p:cNvPr id="117" name="矩形 116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19" name="文本框 12"/>
          <p:cNvSpPr txBox="1"/>
          <p:nvPr>
            <p:custDataLst>
              <p:tags r:id="rId1"/>
            </p:custDataLst>
          </p:nvPr>
        </p:nvSpPr>
        <p:spPr>
          <a:xfrm>
            <a:off x="2654855" y="744319"/>
            <a:ext cx="717931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活动小结</a:t>
            </a:r>
            <a:endParaRPr lang="zh-CN" altLang="en-US" sz="3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7" name="附件2  课内练习背景音乐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>
                  <p14:trim st="1752.000000" end="72953.851563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034010" y="4937463"/>
            <a:ext cx="609600" cy="609600"/>
          </a:xfrm>
          <a:prstGeom prst="rect">
            <a:avLst/>
          </a:prstGeom>
        </p:spPr>
      </p:pic>
      <p:pic>
        <p:nvPicPr>
          <p:cNvPr id="10" name="主要用手进行控制，使得小车按预定的方向、以相应的速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2282010" y="5276904"/>
            <a:ext cx="609600" cy="609600"/>
          </a:xfrm>
          <a:prstGeom prst="rect">
            <a:avLst/>
          </a:prstGeom>
        </p:spPr>
      </p:pic>
      <p:pic>
        <p:nvPicPr>
          <p:cNvPr id="12" name="因为我推着小车，但是前后座位中间比较挤，我觉得应该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631760" y="6216000"/>
            <a:ext cx="609600" cy="609600"/>
          </a:xfrm>
          <a:prstGeom prst="rect">
            <a:avLst/>
          </a:prstGeom>
        </p:spPr>
      </p:pic>
      <p:pic>
        <p:nvPicPr>
          <p:cNvPr id="13" name="不累呀，但是如果让我再来几次，我就不行了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355910" y="7173000"/>
            <a:ext cx="609600" cy="6096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021" y="2689383"/>
            <a:ext cx="3024000" cy="285768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191" y="2758782"/>
            <a:ext cx="2411544" cy="285768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>
                <p:cTn id="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直接连接符 114"/>
          <p:cNvCxnSpPr/>
          <p:nvPr/>
        </p:nvCxnSpPr>
        <p:spPr>
          <a:xfrm flipV="1">
            <a:off x="2654855" y="1339094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组合 115"/>
          <p:cNvGrpSpPr/>
          <p:nvPr/>
        </p:nvGrpSpPr>
        <p:grpSpPr>
          <a:xfrm>
            <a:off x="1979114" y="1066575"/>
            <a:ext cx="445481" cy="469613"/>
            <a:chOff x="2121873" y="1511588"/>
            <a:chExt cx="445481" cy="469613"/>
          </a:xfrm>
        </p:grpSpPr>
        <p:sp>
          <p:nvSpPr>
            <p:cNvPr id="117" name="矩形 116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18" name="矩形 117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19" name="文本框 12"/>
          <p:cNvSpPr txBox="1"/>
          <p:nvPr>
            <p:custDataLst>
              <p:tags r:id="rId1"/>
            </p:custDataLst>
          </p:nvPr>
        </p:nvSpPr>
        <p:spPr>
          <a:xfrm>
            <a:off x="2654855" y="744319"/>
            <a:ext cx="717931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活动小结</a:t>
            </a:r>
            <a:endParaRPr lang="zh-CN" altLang="en-US" sz="3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7" name="附件2  课内练习背景音乐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>
                  <p14:trim st="1752.000000" end="72953.851563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034010" y="4937463"/>
            <a:ext cx="609600" cy="609600"/>
          </a:xfrm>
          <a:prstGeom prst="rect">
            <a:avLst/>
          </a:prstGeom>
        </p:spPr>
      </p:pic>
      <p:pic>
        <p:nvPicPr>
          <p:cNvPr id="10" name="主要用手进行控制，使得小车按预定的方向、以相应的速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2282010" y="5276904"/>
            <a:ext cx="609600" cy="609600"/>
          </a:xfrm>
          <a:prstGeom prst="rect">
            <a:avLst/>
          </a:prstGeom>
        </p:spPr>
      </p:pic>
      <p:pic>
        <p:nvPicPr>
          <p:cNvPr id="12" name="因为我推着小车，但是前后座位中间比较挤，我觉得应该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631760" y="6216000"/>
            <a:ext cx="609600" cy="609600"/>
          </a:xfrm>
          <a:prstGeom prst="rect">
            <a:avLst/>
          </a:prstGeom>
        </p:spPr>
      </p:pic>
      <p:pic>
        <p:nvPicPr>
          <p:cNvPr id="13" name="不累呀，但是如果让我再来几次，我就不行了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355910" y="7173000"/>
            <a:ext cx="609600" cy="609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39" b="27614"/>
          <a:stretch>
            <a:fillRect/>
          </a:stretch>
        </p:blipFill>
        <p:spPr>
          <a:xfrm>
            <a:off x="1614124" y="2475345"/>
            <a:ext cx="4780310" cy="33160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584" y="2205000"/>
            <a:ext cx="2012366" cy="3519536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>
                <p:cTn id="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2699581" y="1878210"/>
            <a:ext cx="7487920" cy="31750"/>
          </a:xfrm>
          <a:prstGeom prst="line">
            <a:avLst/>
          </a:prstGeom>
          <a:ln w="12700">
            <a:solidFill>
              <a:srgbClr val="0143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2023840" y="1605691"/>
            <a:ext cx="445481" cy="469613"/>
            <a:chOff x="2121873" y="1511588"/>
            <a:chExt cx="445481" cy="469613"/>
          </a:xfrm>
        </p:grpSpPr>
        <p:sp>
          <p:nvSpPr>
            <p:cNvPr id="7" name="矩形 6"/>
            <p:cNvSpPr/>
            <p:nvPr/>
          </p:nvSpPr>
          <p:spPr>
            <a:xfrm>
              <a:off x="2121873" y="1511588"/>
              <a:ext cx="363415" cy="363415"/>
            </a:xfrm>
            <a:prstGeom prst="rect">
              <a:avLst/>
            </a:prstGeom>
            <a:solidFill>
              <a:srgbClr val="0143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321171" y="1735018"/>
              <a:ext cx="246183" cy="246183"/>
            </a:xfrm>
            <a:prstGeom prst="rect">
              <a:avLst/>
            </a:prstGeom>
            <a:solidFill>
              <a:srgbClr val="0162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578100" y="1220470"/>
            <a:ext cx="676338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过程与控制</a:t>
            </a:r>
            <a:endParaRPr lang="zh-CN" altLang="en-US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Rectangle 1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2000" y="2236079"/>
            <a:ext cx="6768465" cy="228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2400">
                <a:solidFill>
                  <a:schemeClr val="tx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9pPr>
          </a:lstStyle>
          <a:p>
            <a:pPr marL="168275" lvl="0" indent="720090" fontAlgn="base">
              <a:lnSpc>
                <a:spcPts val="3600"/>
              </a:lnSpc>
              <a:defRPr/>
            </a:pPr>
            <a:r>
              <a:rPr lang="zh-CN" altLang="en-US" dirty="0">
                <a:ea typeface="华文楷体" panose="02010600040101010101" pitchFamily="2" charset="-122"/>
                <a:sym typeface="+mn-ea"/>
              </a:rPr>
              <a:t>实际上，人们通过开与关操作启动控制系统后，控制系统就会按特定的控制规则或原理进行工作。</a:t>
            </a:r>
            <a:endParaRPr lang="zh-CN" altLang="en-US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 descr="自定义高清放大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000" y="3379760"/>
            <a:ext cx="2934335" cy="2934335"/>
          </a:xfrm>
          <a:prstGeom prst="rect">
            <a:avLst/>
          </a:prstGeom>
        </p:spPr>
      </p:pic>
      <p:pic>
        <p:nvPicPr>
          <p:cNvPr id="3" name="老师，竟然还有隐藏的指挥员呀。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60000" y="3780855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1988185" y="2781300"/>
            <a:ext cx="10447020" cy="1795145"/>
            <a:chOff x="996173" y="3505024"/>
            <a:chExt cx="4048299" cy="709378"/>
          </a:xfrm>
        </p:grpSpPr>
        <p:grpSp>
          <p:nvGrpSpPr>
            <p:cNvPr id="28" name="组合 27"/>
            <p:cNvGrpSpPr/>
            <p:nvPr/>
          </p:nvGrpSpPr>
          <p:grpSpPr>
            <a:xfrm>
              <a:off x="996173" y="3505024"/>
              <a:ext cx="3290512" cy="540000"/>
              <a:chOff x="1635965" y="1686127"/>
              <a:chExt cx="3665894" cy="601602"/>
            </a:xfrm>
          </p:grpSpPr>
          <p:sp>
            <p:nvSpPr>
              <p:cNvPr id="29" name="圆角矩形 28"/>
              <p:cNvSpPr/>
              <p:nvPr>
                <p:custDataLst>
                  <p:tags r:id="rId2"/>
                </p:custDataLst>
              </p:nvPr>
            </p:nvSpPr>
            <p:spPr>
              <a:xfrm>
                <a:off x="1855361" y="1706988"/>
                <a:ext cx="3446498" cy="528105"/>
              </a:xfrm>
              <a:prstGeom prst="roundRect">
                <a:avLst/>
              </a:prstGeom>
              <a:solidFill>
                <a:srgbClr val="014E6A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矩形 29"/>
              <p:cNvSpPr/>
              <p:nvPr>
                <p:custDataLst>
                  <p:tags r:id="rId3"/>
                </p:custDataLst>
              </p:nvPr>
            </p:nvSpPr>
            <p:spPr>
              <a:xfrm rot="18614181">
                <a:off x="1635965" y="1686126"/>
                <a:ext cx="601602" cy="601603"/>
              </a:xfrm>
              <a:prstGeom prst="rect">
                <a:avLst/>
              </a:prstGeom>
              <a:solidFill>
                <a:srgbClr val="1784A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2" name="文本框 31"/>
            <p:cNvSpPr txBox="1"/>
            <p:nvPr>
              <p:custDataLst>
                <p:tags r:id="rId4"/>
              </p:custDataLst>
            </p:nvPr>
          </p:nvSpPr>
          <p:spPr>
            <a:xfrm>
              <a:off x="1191291" y="3594606"/>
              <a:ext cx="3853181" cy="6197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     </a:t>
              </a:r>
              <a:r>
                <a:rPr lang="zh-CN" altLang="en-US" sz="48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分析控制系统的典型环节</a:t>
              </a:r>
              <a:endParaRPr lang="zh-CN" altLang="en-US" sz="4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endParaRPr lang="zh-CN" altLang="en-US" sz="4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占位符 3"/>
          <p:cNvSpPr txBox="1"/>
          <p:nvPr>
            <p:custDataLst>
              <p:tags r:id="rId1"/>
            </p:custDataLst>
          </p:nvPr>
        </p:nvSpPr>
        <p:spPr>
          <a:xfrm>
            <a:off x="1023938" y="2490788"/>
            <a:ext cx="4473575" cy="25209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indent="457200" eaLnBrk="1" hangingPunct="1">
              <a:lnSpc>
                <a:spcPts val="3600"/>
              </a:lnSpc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可以把控制系统想象成一个机器人，它的工作过程实质上涵盖了指令的发出（输入）、算法的内部处理（计算）和结果的呈现（输出）三个环节。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 descr="第4课工作过程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86425" y="1976755"/>
            <a:ext cx="5948045" cy="4117975"/>
          </a:xfrm>
          <a:prstGeom prst="rect">
            <a:avLst/>
          </a:prstGeom>
        </p:spPr>
      </p:pic>
      <p:pic>
        <p:nvPicPr>
          <p:cNvPr id="11" name="图片 10" descr="C:/Users/27745/Desktop/小智（新）.png小智（新）"/>
          <p:cNvPicPr>
            <a:picLocks noChangeAspect="1"/>
          </p:cNvPicPr>
          <p:nvPr/>
        </p:nvPicPr>
        <p:blipFill>
          <a:blip r:embed="rId3"/>
          <a:srcRect l="5" r="5"/>
          <a:stretch>
            <a:fillRect/>
          </a:stretch>
        </p:blipFill>
        <p:spPr>
          <a:xfrm flipH="1">
            <a:off x="7752000" y="2637901"/>
            <a:ext cx="1415485" cy="2795682"/>
          </a:xfrm>
          <a:prstGeom prst="rect">
            <a:avLst/>
          </a:prstGeom>
        </p:spPr>
      </p:pic>
      <p:grpSp>
        <p:nvGrpSpPr>
          <p:cNvPr id="3" name="组合 10"/>
          <p:cNvGrpSpPr/>
          <p:nvPr/>
        </p:nvGrpSpPr>
        <p:grpSpPr>
          <a:xfrm>
            <a:off x="3060700" y="997213"/>
            <a:ext cx="6070600" cy="775335"/>
            <a:chOff x="3358604" y="1402384"/>
            <a:chExt cx="6070531" cy="774900"/>
          </a:xfrm>
        </p:grpSpPr>
        <p:cxnSp>
          <p:nvCxnSpPr>
            <p:cNvPr id="4" name="直接连接符 3"/>
            <p:cNvCxnSpPr/>
            <p:nvPr>
              <p:custDataLst>
                <p:tags r:id="rId4"/>
              </p:custDataLst>
            </p:nvPr>
          </p:nvCxnSpPr>
          <p:spPr>
            <a:xfrm flipV="1">
              <a:off x="3358604" y="2058913"/>
              <a:ext cx="6070531" cy="25386"/>
            </a:xfrm>
            <a:prstGeom prst="line">
              <a:avLst/>
            </a:prstGeom>
            <a:ln w="12700">
              <a:solidFill>
                <a:srgbClr val="014E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12"/>
            <p:cNvSpPr txBox="1"/>
            <p:nvPr>
              <p:custDataLst>
                <p:tags r:id="rId5"/>
              </p:custDataLst>
            </p:nvPr>
          </p:nvSpPr>
          <p:spPr>
            <a:xfrm>
              <a:off x="3359239" y="1402384"/>
              <a:ext cx="5784785" cy="7749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noAutofit/>
            </a:bodyPr>
            <a:lstStyle/>
            <a:p>
              <a:pPr algn="ctr"/>
              <a:r>
                <a:rPr lang="zh-CN" altLang="en-US" sz="3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输入、计算、输出</a:t>
              </a:r>
              <a:endPara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2473801" y="1358400"/>
            <a:ext cx="363538" cy="363538"/>
          </a:xfrm>
          <a:prstGeom prst="rect">
            <a:avLst/>
          </a:prstGeom>
          <a:solidFill>
            <a:srgbClr val="014E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2673826" y="1582238"/>
            <a:ext cx="246063" cy="246062"/>
          </a:xfrm>
          <a:prstGeom prst="rect">
            <a:avLst/>
          </a:prstGeom>
          <a:solidFill>
            <a:srgbClr val="178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图片 22" descr="86"/>
          <p:cNvPicPr>
            <a:picLocks noChangeAspect="1"/>
          </p:cNvPicPr>
          <p:nvPr/>
        </p:nvPicPr>
        <p:blipFill>
          <a:blip r:embed="rId1"/>
          <a:srcRect l="21521"/>
          <a:stretch>
            <a:fillRect/>
          </a:stretch>
        </p:blipFill>
        <p:spPr>
          <a:xfrm>
            <a:off x="7750175" y="2395538"/>
            <a:ext cx="3811588" cy="3136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00" name="文本占位符 2"/>
          <p:cNvSpPr txBox="1"/>
          <p:nvPr/>
        </p:nvSpPr>
        <p:spPr>
          <a:xfrm>
            <a:off x="865188" y="2348548"/>
            <a:ext cx="6107112" cy="18510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228600">
              <a:lnSpc>
                <a:spcPts val="3600"/>
              </a:lnSpc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如果你正要过马路，前方红灯亮起。请把自己作为一个系统，分析在这个情境中，输入、输出分别是什么？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29701" name="组合 24"/>
          <p:cNvGrpSpPr/>
          <p:nvPr/>
        </p:nvGrpSpPr>
        <p:grpSpPr>
          <a:xfrm>
            <a:off x="1776095" y="3716973"/>
            <a:ext cx="4197033" cy="1841500"/>
            <a:chOff x="4693838" y="3370920"/>
            <a:chExt cx="4776017" cy="2109140"/>
          </a:xfrm>
        </p:grpSpPr>
        <p:sp>
          <p:nvSpPr>
            <p:cNvPr id="29704" name="图片 25" descr="86"/>
            <p:cNvSpPr>
              <a:spLocks noChangeAspect="1"/>
            </p:cNvSpPr>
            <p:nvPr/>
          </p:nvSpPr>
          <p:spPr>
            <a:xfrm>
              <a:off x="4784586" y="3370920"/>
              <a:ext cx="2575679" cy="210914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Calibri" panose="020F0502020204030204" charset="0"/>
              </a:endParaRPr>
            </a:p>
          </p:txBody>
        </p:sp>
        <p:sp>
          <p:nvSpPr>
            <p:cNvPr id="29705" name="文本框 26"/>
            <p:cNvSpPr txBox="1"/>
            <p:nvPr/>
          </p:nvSpPr>
          <p:spPr>
            <a:xfrm>
              <a:off x="5151914" y="3798472"/>
              <a:ext cx="84173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Times New Roman" panose="02020503050405090304" pitchFamily="18" charset="0"/>
                  <a:ea typeface="华文楷体" panose="02010600040101010101" pitchFamily="2" charset="-122"/>
                </a:rPr>
                <a:t>？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29706" name="文本框 27"/>
            <p:cNvSpPr txBox="1"/>
            <p:nvPr/>
          </p:nvSpPr>
          <p:spPr>
            <a:xfrm>
              <a:off x="8346223" y="4833402"/>
              <a:ext cx="1123632" cy="5285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Times New Roman" panose="02020503050405090304" pitchFamily="18" charset="0"/>
                  <a:ea typeface="华文楷体" panose="02010600040101010101" pitchFamily="2" charset="-122"/>
                </a:rPr>
                <a:t>输出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29707" name="文本框 28"/>
            <p:cNvSpPr txBox="1"/>
            <p:nvPr/>
          </p:nvSpPr>
          <p:spPr>
            <a:xfrm>
              <a:off x="4931756" y="4833402"/>
              <a:ext cx="1325892" cy="5285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Times New Roman" panose="02020503050405090304" pitchFamily="18" charset="0"/>
                  <a:ea typeface="华文楷体" panose="02010600040101010101" pitchFamily="2" charset="-122"/>
                </a:rPr>
                <a:t>输入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29708" name="文本框 29"/>
            <p:cNvSpPr txBox="1"/>
            <p:nvPr/>
          </p:nvSpPr>
          <p:spPr>
            <a:xfrm>
              <a:off x="8547521" y="3798471"/>
              <a:ext cx="84173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Times New Roman" panose="02020503050405090304" pitchFamily="18" charset="0"/>
                  <a:ea typeface="华文楷体" panose="02010600040101010101" pitchFamily="2" charset="-122"/>
                </a:rPr>
                <a:t>？</a:t>
              </a:r>
              <a:endParaRPr lang="zh-CN" altLang="en-US" sz="2400" b="1" dirty="0">
                <a:solidFill>
                  <a:srgbClr val="FF0000"/>
                </a:solidFill>
                <a:latin typeface="Times New Roman" panose="0202050305040509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31" name="右箭头 448"/>
            <p:cNvSpPr/>
            <p:nvPr/>
          </p:nvSpPr>
          <p:spPr>
            <a:xfrm>
              <a:off x="4693838" y="4260031"/>
              <a:ext cx="1428940" cy="33091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503050405090304" pitchFamily="18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32" name="右箭头 448"/>
            <p:cNvSpPr/>
            <p:nvPr/>
          </p:nvSpPr>
          <p:spPr>
            <a:xfrm>
              <a:off x="8040915" y="4260031"/>
              <a:ext cx="1428940" cy="33091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503050405090304" pitchFamily="18" charset="0"/>
                <a:ea typeface="华文楷体" panose="02010600040101010101" pitchFamily="2" charset="-122"/>
                <a:cs typeface="+mn-cs"/>
              </a:endParaRPr>
            </a:p>
          </p:txBody>
        </p:sp>
      </p:grpSp>
      <p:sp>
        <p:nvSpPr>
          <p:cNvPr id="29703" name="图片 19" descr="86"/>
          <p:cNvSpPr>
            <a:spLocks noChangeAspect="1"/>
          </p:cNvSpPr>
          <p:nvPr/>
        </p:nvSpPr>
        <p:spPr>
          <a:xfrm>
            <a:off x="2687638" y="3716973"/>
            <a:ext cx="3209925" cy="26289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 dirty="0">
              <a:latin typeface="Calibri" panose="020F05020202040302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253740" y="4293235"/>
            <a:ext cx="1884680" cy="1059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400"/>
              <a:t>计算</a:t>
            </a:r>
            <a:endParaRPr lang="zh-CN" altLang="en-US" sz="4400"/>
          </a:p>
        </p:txBody>
      </p:sp>
      <p:pic>
        <p:nvPicPr>
          <p:cNvPr id="2" name="老师，当然是停下来啦，红灯停，绿灯行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932130" y="5031423"/>
            <a:ext cx="609601" cy="609600"/>
          </a:xfrm>
          <a:prstGeom prst="rect">
            <a:avLst/>
          </a:prstGeom>
        </p:spPr>
      </p:pic>
      <p:pic>
        <p:nvPicPr>
          <p:cNvPr id="6" name="附件2  课内练习背景音乐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>
                  <p14:trim st="1752.000000" end="72953.851563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034010" y="4937463"/>
            <a:ext cx="609600" cy="609600"/>
          </a:xfrm>
          <a:prstGeom prst="rect">
            <a:avLst/>
          </a:prstGeom>
        </p:spPr>
      </p:pic>
      <p:grpSp>
        <p:nvGrpSpPr>
          <p:cNvPr id="8" name="组合 10"/>
          <p:cNvGrpSpPr/>
          <p:nvPr/>
        </p:nvGrpSpPr>
        <p:grpSpPr>
          <a:xfrm>
            <a:off x="3060700" y="997213"/>
            <a:ext cx="6070600" cy="775335"/>
            <a:chOff x="3358604" y="1402384"/>
            <a:chExt cx="6070531" cy="774900"/>
          </a:xfrm>
        </p:grpSpPr>
        <p:cxnSp>
          <p:nvCxnSpPr>
            <p:cNvPr id="9" name="直接连接符 8"/>
            <p:cNvCxnSpPr/>
            <p:nvPr>
              <p:custDataLst>
                <p:tags r:id="rId7"/>
              </p:custDataLst>
            </p:nvPr>
          </p:nvCxnSpPr>
          <p:spPr>
            <a:xfrm flipV="1">
              <a:off x="3358604" y="2058913"/>
              <a:ext cx="6070531" cy="25386"/>
            </a:xfrm>
            <a:prstGeom prst="line">
              <a:avLst/>
            </a:prstGeom>
            <a:ln w="12700">
              <a:solidFill>
                <a:srgbClr val="014E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12"/>
            <p:cNvSpPr txBox="1"/>
            <p:nvPr>
              <p:custDataLst>
                <p:tags r:id="rId8"/>
              </p:custDataLst>
            </p:nvPr>
          </p:nvSpPr>
          <p:spPr>
            <a:xfrm>
              <a:off x="3359239" y="1402384"/>
              <a:ext cx="5784785" cy="7749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noAutofit/>
            </a:bodyPr>
            <a:lstStyle/>
            <a:p>
              <a:pPr algn="ctr"/>
              <a:r>
                <a:rPr lang="zh-CN" altLang="en-US" sz="3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活动：分析看到红灯的反应</a:t>
              </a:r>
              <a:endPara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2473801" y="1358400"/>
            <a:ext cx="363538" cy="363538"/>
          </a:xfrm>
          <a:prstGeom prst="rect">
            <a:avLst/>
          </a:prstGeom>
          <a:solidFill>
            <a:srgbClr val="014E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10"/>
            </p:custDataLst>
          </p:nvPr>
        </p:nvSpPr>
        <p:spPr>
          <a:xfrm>
            <a:off x="2673826" y="1582238"/>
            <a:ext cx="246063" cy="246062"/>
          </a:xfrm>
          <a:prstGeom prst="rect">
            <a:avLst/>
          </a:prstGeom>
          <a:solidFill>
            <a:srgbClr val="178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2867" y="3949738"/>
            <a:ext cx="901402" cy="24247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图片 19" descr="8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1521"/>
          <a:stretch>
            <a:fillRect/>
          </a:stretch>
        </p:blipFill>
        <p:spPr>
          <a:xfrm>
            <a:off x="5119687" y="2116721"/>
            <a:ext cx="2511425" cy="20669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1748" name="组合 20"/>
          <p:cNvGrpSpPr/>
          <p:nvPr/>
        </p:nvGrpSpPr>
        <p:grpSpPr>
          <a:xfrm>
            <a:off x="2235200" y="1959559"/>
            <a:ext cx="7237412" cy="2454275"/>
            <a:chOff x="2639729" y="2841498"/>
            <a:chExt cx="7237033" cy="2453569"/>
          </a:xfrm>
        </p:grpSpPr>
        <p:sp>
          <p:nvSpPr>
            <p:cNvPr id="31756" name="图片 33" descr="86"/>
            <p:cNvSpPr>
              <a:spLocks noChangeAspect="1"/>
            </p:cNvSpPr>
            <p:nvPr/>
          </p:nvSpPr>
          <p:spPr>
            <a:xfrm>
              <a:off x="5374323" y="2841498"/>
              <a:ext cx="2826226" cy="234711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endParaRPr lang="zh-CN" altLang="en-US" dirty="0">
                <a:latin typeface="Calibri" panose="020F0502020204030204" charset="0"/>
              </a:endParaRPr>
            </a:p>
          </p:txBody>
        </p:sp>
        <p:sp>
          <p:nvSpPr>
            <p:cNvPr id="31757" name="文本框 34"/>
            <p:cNvSpPr txBox="1"/>
            <p:nvPr/>
          </p:nvSpPr>
          <p:spPr>
            <a:xfrm>
              <a:off x="2639729" y="3287372"/>
              <a:ext cx="2773102" cy="98841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ts val="35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Times New Roman" panose="02020503050405090304" pitchFamily="18" charset="0"/>
                  <a:ea typeface="华文楷体" panose="02010600040101010101" pitchFamily="2" charset="-122"/>
                </a:rPr>
                <a:t>眼睛获取“交通信号变红”的信号</a:t>
              </a:r>
              <a:endParaRPr lang="zh-CN" altLang="en-US" sz="2000" dirty="0">
                <a:solidFill>
                  <a:schemeClr val="tx1"/>
                </a:solidFill>
                <a:latin typeface="Times New Roman" panose="0202050305040509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31758" name="文本框 35"/>
            <p:cNvSpPr txBox="1"/>
            <p:nvPr/>
          </p:nvSpPr>
          <p:spPr>
            <a:xfrm>
              <a:off x="8346858" y="4833402"/>
              <a:ext cx="84173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华文楷体" panose="02010600040101010101" pitchFamily="2" charset="-122"/>
                </a:rPr>
                <a:t>输出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50305040509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31759" name="文本框 36"/>
            <p:cNvSpPr txBox="1"/>
            <p:nvPr/>
          </p:nvSpPr>
          <p:spPr>
            <a:xfrm>
              <a:off x="2956896" y="4833402"/>
              <a:ext cx="84173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华文楷体" panose="02010600040101010101" pitchFamily="2" charset="-122"/>
                </a:rPr>
                <a:t>输入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50305040509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31760" name="文本框 37"/>
            <p:cNvSpPr txBox="1"/>
            <p:nvPr/>
          </p:nvSpPr>
          <p:spPr>
            <a:xfrm>
              <a:off x="8115176" y="3337363"/>
              <a:ext cx="1761586" cy="98841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l">
                <a:lnSpc>
                  <a:spcPts val="3500"/>
                </a:lnSpc>
                <a:buClrTx/>
                <a:buSzTx/>
                <a:buFontTx/>
              </a:pPr>
              <a:r>
                <a:rPr lang="zh-CN" altLang="en-US" sz="2000" dirty="0">
                  <a:latin typeface="Times New Roman" panose="02020503050405090304" pitchFamily="18" charset="0"/>
                  <a:ea typeface="华文楷体" panose="02010600040101010101" pitchFamily="2" charset="-122"/>
                </a:rPr>
                <a:t>脚停止运动的信号</a:t>
              </a:r>
              <a:endParaRPr lang="zh-CN" altLang="en-US" sz="2000" b="1" dirty="0">
                <a:solidFill>
                  <a:srgbClr val="FF0000"/>
                </a:solidFill>
                <a:latin typeface="Times New Roman" panose="0202050305040509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39" name="右箭头 448"/>
            <p:cNvSpPr/>
            <p:nvPr/>
          </p:nvSpPr>
          <p:spPr>
            <a:xfrm>
              <a:off x="2887366" y="4198420"/>
              <a:ext cx="2046180" cy="41104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503050405090304" pitchFamily="18" charset="0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40" name="右箭头 448"/>
            <p:cNvSpPr/>
            <p:nvPr/>
          </p:nvSpPr>
          <p:spPr>
            <a:xfrm>
              <a:off x="8114729" y="4257141"/>
              <a:ext cx="1557256" cy="41580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503050405090304" pitchFamily="18" charset="0"/>
                <a:ea typeface="华文楷体" panose="02010600040101010101" pitchFamily="2" charset="-122"/>
                <a:cs typeface="+mn-cs"/>
              </a:endParaRPr>
            </a:p>
          </p:txBody>
        </p:sp>
      </p:grpSp>
      <p:sp>
        <p:nvSpPr>
          <p:cNvPr id="31755" name="文本框 44"/>
          <p:cNvSpPr txBox="1"/>
          <p:nvPr>
            <p:custDataLst>
              <p:tags r:id="rId3"/>
            </p:custDataLst>
          </p:nvPr>
        </p:nvSpPr>
        <p:spPr>
          <a:xfrm>
            <a:off x="2209373" y="4612212"/>
            <a:ext cx="8161020" cy="157099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Times New Roman" panose="02020503050405090304" pitchFamily="18" charset="0"/>
                <a:ea typeface="华文楷体" panose="02010600040101010101" pitchFamily="2" charset="-122"/>
              </a:rPr>
              <a:t>        这里的“计算”，可以理解为人脑进行的思考、分析、判断等思维活动，这就是系统中的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“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计算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en-US" sz="2400" dirty="0">
                <a:latin typeface="Times New Roman" panose="02020503050405090304" pitchFamily="18" charset="0"/>
                <a:ea typeface="华文楷体" panose="02010600040101010101" pitchFamily="2" charset="-122"/>
              </a:rPr>
              <a:t>环节。</a:t>
            </a:r>
            <a:endParaRPr lang="zh-CN" altLang="en-US" sz="2400" dirty="0">
              <a:latin typeface="Times New Roman" panose="02020503050405090304" pitchFamily="18" charset="0"/>
              <a:ea typeface="华文楷体" panose="02010600040101010101" pitchFamily="2" charset="-122"/>
            </a:endParaRPr>
          </a:p>
        </p:txBody>
      </p:sp>
      <p:sp>
        <p:nvSpPr>
          <p:cNvPr id="31753" name="图片 22" descr="86"/>
          <p:cNvSpPr>
            <a:spLocks noChangeAspect="1"/>
          </p:cNvSpPr>
          <p:nvPr/>
        </p:nvSpPr>
        <p:spPr>
          <a:xfrm>
            <a:off x="4935537" y="1924634"/>
            <a:ext cx="2184400" cy="23971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 dirty="0">
              <a:latin typeface="Calibri" panose="020F0502020204030204" charset="0"/>
            </a:endParaRPr>
          </a:p>
        </p:txBody>
      </p:sp>
      <p:pic>
        <p:nvPicPr>
          <p:cNvPr id="2" name="老师，结合我自己过马路遇到红灯时的反应，那在这个问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1176000" y="3217652"/>
            <a:ext cx="609600" cy="609600"/>
          </a:xfrm>
          <a:prstGeom prst="rect">
            <a:avLst/>
          </a:prstGeom>
        </p:spPr>
      </p:pic>
      <p:pic>
        <p:nvPicPr>
          <p:cNvPr id="7" name="老师，我听到好消息时，也会情不自禁，高兴地跳起来！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1224240" y="4797000"/>
            <a:ext cx="609600" cy="609600"/>
          </a:xfrm>
          <a:prstGeom prst="rect">
            <a:avLst/>
          </a:prstGeom>
        </p:spPr>
      </p:pic>
      <p:pic>
        <p:nvPicPr>
          <p:cNvPr id="8" name="老师，我闻到花的香味时，会忍不住赞叹：这朵花真香呢 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1176000" y="3952036"/>
            <a:ext cx="609600" cy="609600"/>
          </a:xfrm>
          <a:prstGeom prst="rect">
            <a:avLst/>
          </a:prstGeom>
        </p:spPr>
      </p:pic>
      <p:grpSp>
        <p:nvGrpSpPr>
          <p:cNvPr id="6" name="组合 10"/>
          <p:cNvGrpSpPr/>
          <p:nvPr/>
        </p:nvGrpSpPr>
        <p:grpSpPr>
          <a:xfrm>
            <a:off x="3060700" y="997213"/>
            <a:ext cx="6070600" cy="775335"/>
            <a:chOff x="3358604" y="1402384"/>
            <a:chExt cx="6070531" cy="774900"/>
          </a:xfrm>
        </p:grpSpPr>
        <p:cxnSp>
          <p:nvCxnSpPr>
            <p:cNvPr id="9" name="直接连接符 8"/>
            <p:cNvCxnSpPr/>
            <p:nvPr>
              <p:custDataLst>
                <p:tags r:id="rId11"/>
              </p:custDataLst>
            </p:nvPr>
          </p:nvCxnSpPr>
          <p:spPr>
            <a:xfrm flipV="1">
              <a:off x="3358604" y="2058913"/>
              <a:ext cx="6070531" cy="25386"/>
            </a:xfrm>
            <a:prstGeom prst="line">
              <a:avLst/>
            </a:prstGeom>
            <a:ln w="12700">
              <a:solidFill>
                <a:srgbClr val="014E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12"/>
            <p:cNvSpPr txBox="1"/>
            <p:nvPr>
              <p:custDataLst>
                <p:tags r:id="rId12"/>
              </p:custDataLst>
            </p:nvPr>
          </p:nvSpPr>
          <p:spPr>
            <a:xfrm>
              <a:off x="3359239" y="1402384"/>
              <a:ext cx="5784785" cy="7749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noAutofit/>
            </a:bodyPr>
            <a:lstStyle/>
            <a:p>
              <a:pPr algn="ctr"/>
              <a:r>
                <a:rPr lang="zh-CN" altLang="en-US" sz="3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活动：分析看到红灯的反应</a:t>
              </a:r>
              <a:endPara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1" name="矩形 10"/>
          <p:cNvSpPr/>
          <p:nvPr>
            <p:custDataLst>
              <p:tags r:id="rId13"/>
            </p:custDataLst>
          </p:nvPr>
        </p:nvSpPr>
        <p:spPr>
          <a:xfrm>
            <a:off x="2473801" y="1358400"/>
            <a:ext cx="363538" cy="363538"/>
          </a:xfrm>
          <a:prstGeom prst="rect">
            <a:avLst/>
          </a:prstGeom>
          <a:solidFill>
            <a:srgbClr val="014E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14"/>
            </p:custDataLst>
          </p:nvPr>
        </p:nvSpPr>
        <p:spPr>
          <a:xfrm>
            <a:off x="2673826" y="1582238"/>
            <a:ext cx="246063" cy="246062"/>
          </a:xfrm>
          <a:prstGeom prst="rect">
            <a:avLst/>
          </a:prstGeom>
          <a:solidFill>
            <a:srgbClr val="178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091" y="3728034"/>
            <a:ext cx="882872" cy="23749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03" y="3583571"/>
            <a:ext cx="875033" cy="24606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7" name="图片 35"/>
          <p:cNvSpPr>
            <a:spLocks noChangeAspect="1"/>
          </p:cNvSpPr>
          <p:nvPr/>
        </p:nvSpPr>
        <p:spPr>
          <a:xfrm>
            <a:off x="5589588" y="1612900"/>
            <a:ext cx="930275" cy="10652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 dirty="0">
              <a:latin typeface="Calibri" panose="020F0502020204030204" charset="0"/>
            </a:endParaRPr>
          </a:p>
        </p:txBody>
      </p:sp>
      <p:grpSp>
        <p:nvGrpSpPr>
          <p:cNvPr id="21509" name="组合 10"/>
          <p:cNvGrpSpPr/>
          <p:nvPr/>
        </p:nvGrpSpPr>
        <p:grpSpPr>
          <a:xfrm>
            <a:off x="3288030" y="1269057"/>
            <a:ext cx="6070600" cy="775335"/>
            <a:chOff x="3358604" y="1402384"/>
            <a:chExt cx="6070531" cy="774900"/>
          </a:xfrm>
        </p:grpSpPr>
        <p:cxnSp>
          <p:nvCxnSpPr>
            <p:cNvPr id="12" name="直接连接符 11"/>
            <p:cNvCxnSpPr/>
            <p:nvPr>
              <p:custDataLst>
                <p:tags r:id="rId1"/>
              </p:custDataLst>
            </p:nvPr>
          </p:nvCxnSpPr>
          <p:spPr>
            <a:xfrm flipV="1">
              <a:off x="3358604" y="2058913"/>
              <a:ext cx="6070531" cy="25386"/>
            </a:xfrm>
            <a:prstGeom prst="line">
              <a:avLst/>
            </a:prstGeom>
            <a:ln w="12700">
              <a:solidFill>
                <a:srgbClr val="014E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11" name="文本框 12"/>
            <p:cNvSpPr txBox="1"/>
            <p:nvPr>
              <p:custDataLst>
                <p:tags r:id="rId2"/>
              </p:custDataLst>
            </p:nvPr>
          </p:nvSpPr>
          <p:spPr>
            <a:xfrm>
              <a:off x="3359239" y="1402384"/>
              <a:ext cx="5784785" cy="7749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noAutofit/>
            </a:bodyPr>
            <a:lstStyle/>
            <a:p>
              <a:pPr algn="ctr"/>
              <a:r>
                <a:rPr lang="zh-CN" altLang="en-US" sz="3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分析送餐过程</a:t>
              </a:r>
              <a:endPara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7411" name="组合 11"/>
          <p:cNvGrpSpPr/>
          <p:nvPr/>
        </p:nvGrpSpPr>
        <p:grpSpPr>
          <a:xfrm>
            <a:off x="1128000" y="2577600"/>
            <a:ext cx="7781807" cy="1633465"/>
            <a:chOff x="1766568" y="2422698"/>
            <a:chExt cx="7993177" cy="1879150"/>
          </a:xfrm>
        </p:grpSpPr>
        <p:grpSp>
          <p:nvGrpSpPr>
            <p:cNvPr id="17419" name="组合 12"/>
            <p:cNvGrpSpPr/>
            <p:nvPr/>
          </p:nvGrpSpPr>
          <p:grpSpPr>
            <a:xfrm>
              <a:off x="3216917" y="3156646"/>
              <a:ext cx="6542828" cy="1145202"/>
              <a:chOff x="4155" y="89805"/>
              <a:chExt cx="7392" cy="873"/>
            </a:xfrm>
          </p:grpSpPr>
          <p:sp>
            <p:nvSpPr>
              <p:cNvPr id="23" name="圆角矩形 3"/>
              <p:cNvSpPr/>
              <p:nvPr>
                <p:custDataLst>
                  <p:tags r:id="rId3"/>
                </p:custDataLst>
              </p:nvPr>
            </p:nvSpPr>
            <p:spPr>
              <a:xfrm>
                <a:off x="5217" y="89805"/>
                <a:ext cx="3007" cy="873"/>
              </a:xfrm>
              <a:prstGeom prst="roundRect">
                <a:avLst/>
              </a:prstGeom>
              <a:noFill/>
              <a:ln w="28575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  <p:grpSp>
            <p:nvGrpSpPr>
              <p:cNvPr id="17428" name="组合 23"/>
              <p:cNvGrpSpPr/>
              <p:nvPr/>
            </p:nvGrpSpPr>
            <p:grpSpPr>
              <a:xfrm>
                <a:off x="4155" y="89876"/>
                <a:ext cx="7392" cy="612"/>
                <a:chOff x="1488025" y="112395"/>
                <a:chExt cx="4692895" cy="388523"/>
              </a:xfrm>
            </p:grpSpPr>
            <p:grpSp>
              <p:nvGrpSpPr>
                <p:cNvPr id="17429" name="组合 24"/>
                <p:cNvGrpSpPr/>
                <p:nvPr/>
              </p:nvGrpSpPr>
              <p:grpSpPr>
                <a:xfrm>
                  <a:off x="1488025" y="112395"/>
                  <a:ext cx="4692895" cy="309880"/>
                  <a:chOff x="3576" y="8801"/>
                  <a:chExt cx="6686" cy="488"/>
                </a:xfrm>
              </p:grpSpPr>
              <p:cxnSp>
                <p:nvCxnSpPr>
                  <p:cNvPr id="17431" name="直接连接符 26"/>
                  <p:cNvCxnSpPr/>
                  <p:nvPr>
                    <p:custDataLst>
                      <p:tags r:id="rId4"/>
                    </p:custDataLst>
                  </p:nvPr>
                </p:nvCxnSpPr>
                <p:spPr>
                  <a:xfrm flipV="1">
                    <a:off x="3576" y="9127"/>
                    <a:ext cx="780" cy="5"/>
                  </a:xfrm>
                  <a:prstGeom prst="line">
                    <a:avLst/>
                  </a:prstGeom>
                  <a:ln w="19050" cap="flat" cmpd="sng">
                    <a:solidFill>
                      <a:srgbClr val="0070C0"/>
                    </a:solidFill>
                    <a:prstDash val="solid"/>
                    <a:headEnd type="none" w="med" len="med"/>
                    <a:tailEnd type="triangle" w="lg" len="lg"/>
                  </a:ln>
                </p:spPr>
              </p:cxnSp>
              <p:sp>
                <p:nvSpPr>
                  <p:cNvPr id="28" name="矩形 27"/>
                  <p:cNvSpPr/>
                  <p:nvPr>
                    <p:custDataLst>
                      <p:tags r:id="rId5"/>
                    </p:custDataLst>
                  </p:nvPr>
                </p:nvSpPr>
                <p:spPr>
                  <a:xfrm>
                    <a:off x="8226" y="8801"/>
                    <a:ext cx="2036" cy="4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upright="1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sz="2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503050405090304" pitchFamily="18" charset="0"/>
                      </a:rPr>
                      <a:t>机器人运动到指定地点</a:t>
                    </a:r>
                    <a:endParaRPr kumimoji="0" lang="zh-CN" sz="2400" b="0" i="0" u="none" strike="noStrike" kern="1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pitchFamily="2" charset="-122"/>
                      <a:ea typeface="华文楷体" panose="02010600040101010101" pitchFamily="2" charset="-122"/>
                      <a:cs typeface="Times New Roman" panose="02020503050405090304" pitchFamily="18" charset="0"/>
                    </a:endParaRPr>
                  </a:p>
                </p:txBody>
              </p:sp>
            </p:grpSp>
            <p:sp>
              <p:nvSpPr>
                <p:cNvPr id="26" name="矩形 25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2347988" y="203942"/>
                  <a:ext cx="1515301" cy="296976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12700" cap="flat" cmpd="sng">
                  <a:solidFill>
                    <a:srgbClr val="0070C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 upright="1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sz="2400" b="0" i="0" u="none" strike="noStrike" kern="1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pitchFamily="2" charset="-122"/>
                      <a:ea typeface="华文楷体" panose="02010600040101010101" pitchFamily="2" charset="-122"/>
                      <a:cs typeface="Times New Roman" panose="02020503050405090304" pitchFamily="18" charset="0"/>
                    </a:rPr>
                    <a:t>处理装置</a:t>
                  </a:r>
                  <a:endParaRPr kumimoji="0" lang="zh-CN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endParaRPr>
                </a:p>
              </p:txBody>
            </p:sp>
          </p:grpSp>
        </p:grpSp>
        <p:grpSp>
          <p:nvGrpSpPr>
            <p:cNvPr id="17420" name="组合 13"/>
            <p:cNvGrpSpPr/>
            <p:nvPr/>
          </p:nvGrpSpPr>
          <p:grpSpPr>
            <a:xfrm>
              <a:off x="1766568" y="2422698"/>
              <a:ext cx="7901528" cy="541353"/>
              <a:chOff x="14182" y="60171"/>
              <a:chExt cx="8017" cy="394"/>
            </a:xfrm>
          </p:grpSpPr>
          <p:sp>
            <p:nvSpPr>
              <p:cNvPr id="20" name="文本框 259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7147" y="60171"/>
                <a:ext cx="1545" cy="311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计算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  <p:sp>
            <p:nvSpPr>
              <p:cNvPr id="21" name="文本框 260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4182" y="60239"/>
                <a:ext cx="1638" cy="32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输入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  <p:sp>
            <p:nvSpPr>
              <p:cNvPr id="22" name="文本框 261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0634" y="60180"/>
                <a:ext cx="1565" cy="311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输出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</p:grpSp>
        <p:sp>
          <p:nvSpPr>
            <p:cNvPr id="4" name="矩形 3"/>
            <p:cNvSpPr/>
            <p:nvPr>
              <p:custDataLst>
                <p:tags r:id="rId10"/>
              </p:custDataLst>
            </p:nvPr>
          </p:nvSpPr>
          <p:spPr>
            <a:xfrm>
              <a:off x="2107396" y="3254748"/>
              <a:ext cx="919017" cy="635542"/>
            </a:xfrm>
            <a:prstGeom prst="rect">
              <a:avLst/>
            </a:prstGeom>
            <a:noFill/>
            <a:ln>
              <a:noFill/>
            </a:ln>
          </p:spPr>
          <p:txBody>
            <a:bodyPr upright="1"/>
            <a:lstStyle/>
            <a:p>
              <a:pPr marL="0" marR="0" lvl="0" indent="0" algn="just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rPr>
                <a:t>桌号</a:t>
              </a:r>
              <a:endParaRPr kumimoji="0" 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503050405090304" pitchFamily="18" charset="0"/>
              </a:endParaRPr>
            </a:p>
          </p:txBody>
        </p:sp>
      </p:grpSp>
      <p:cxnSp>
        <p:nvCxnSpPr>
          <p:cNvPr id="5" name="直接连接符 26"/>
          <p:cNvCxnSpPr/>
          <p:nvPr>
            <p:custDataLst>
              <p:tags r:id="rId11"/>
            </p:custDataLst>
          </p:nvPr>
        </p:nvCxnSpPr>
        <p:spPr>
          <a:xfrm flipV="1">
            <a:off x="6218552" y="3674001"/>
            <a:ext cx="743113" cy="5701"/>
          </a:xfrm>
          <a:prstGeom prst="line">
            <a:avLst/>
          </a:prstGeom>
          <a:ln w="19050" cap="flat" cmpd="sng">
            <a:solidFill>
              <a:srgbClr val="0070C0"/>
            </a:solidFill>
            <a:prstDash val="solid"/>
            <a:headEnd type="none" w="med" len="med"/>
            <a:tailEnd type="triangle" w="lg" len="lg"/>
          </a:ln>
        </p:spPr>
      </p:cxnSp>
      <p:sp>
        <p:nvSpPr>
          <p:cNvPr id="3" name="矩形 2"/>
          <p:cNvSpPr/>
          <p:nvPr>
            <p:custDataLst>
              <p:tags r:id="rId12"/>
            </p:custDataLst>
          </p:nvPr>
        </p:nvSpPr>
        <p:spPr>
          <a:xfrm>
            <a:off x="2656205" y="1701800"/>
            <a:ext cx="363538" cy="363538"/>
          </a:xfrm>
          <a:prstGeom prst="rect">
            <a:avLst/>
          </a:prstGeom>
          <a:solidFill>
            <a:srgbClr val="014E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13"/>
            </p:custDataLst>
          </p:nvPr>
        </p:nvSpPr>
        <p:spPr>
          <a:xfrm>
            <a:off x="2856230" y="1925638"/>
            <a:ext cx="246063" cy="246062"/>
          </a:xfrm>
          <a:prstGeom prst="rect">
            <a:avLst/>
          </a:prstGeom>
          <a:solidFill>
            <a:srgbClr val="1784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369" y="4061434"/>
            <a:ext cx="1368000" cy="239256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文本占位符 3"/>
          <p:cNvSpPr txBox="1"/>
          <p:nvPr>
            <p:custDataLst>
              <p:tags r:id="rId1"/>
            </p:custDataLst>
          </p:nvPr>
        </p:nvSpPr>
        <p:spPr>
          <a:xfrm>
            <a:off x="696000" y="2162441"/>
            <a:ext cx="8823325" cy="252222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indent="457200" eaLnBrk="1" hangingPunct="1">
              <a:lnSpc>
                <a:spcPts val="3600"/>
              </a:lnSpc>
              <a:buNone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这些我们所了解的控制系统中的过程与控制，实质上都是由这三个基本环节构成的。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indent="457200" eaLnBrk="1" hangingPunct="1">
              <a:lnSpc>
                <a:spcPts val="3600"/>
              </a:lnSpc>
              <a:buNone/>
            </a:pP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indent="457200" eaLnBrk="1" hangingPunct="1">
              <a:lnSpc>
                <a:spcPts val="3600"/>
              </a:lnSpc>
              <a:buNone/>
            </a:pP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9459" name="组合 29"/>
          <p:cNvGrpSpPr/>
          <p:nvPr/>
        </p:nvGrpSpPr>
        <p:grpSpPr>
          <a:xfrm>
            <a:off x="1200000" y="3678186"/>
            <a:ext cx="6910388" cy="2012950"/>
            <a:chOff x="1525098" y="2841170"/>
            <a:chExt cx="6910238" cy="2013189"/>
          </a:xfrm>
        </p:grpSpPr>
        <p:sp>
          <p:nvSpPr>
            <p:cNvPr id="31" name="矩形 30"/>
            <p:cNvSpPr/>
            <p:nvPr/>
          </p:nvSpPr>
          <p:spPr>
            <a:xfrm>
              <a:off x="1525098" y="2841170"/>
              <a:ext cx="1611278" cy="6319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输入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4215853" y="2841170"/>
              <a:ext cx="1611277" cy="6319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计算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6824058" y="2841170"/>
              <a:ext cx="1611278" cy="6319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输出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35" name="箭头: 右 28"/>
            <p:cNvSpPr/>
            <p:nvPr/>
          </p:nvSpPr>
          <p:spPr>
            <a:xfrm>
              <a:off x="3299884" y="2950720"/>
              <a:ext cx="752459" cy="390571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36" name="箭头: 右 29"/>
            <p:cNvSpPr/>
            <p:nvPr/>
          </p:nvSpPr>
          <p:spPr>
            <a:xfrm>
              <a:off x="5949365" y="2950720"/>
              <a:ext cx="752459" cy="390571"/>
            </a:xfrm>
            <a:prstGeom prst="rightArrow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1772743" y="3816011"/>
              <a:ext cx="5929184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箭头: 下 2048"/>
            <p:cNvSpPr/>
            <p:nvPr/>
          </p:nvSpPr>
          <p:spPr>
            <a:xfrm>
              <a:off x="4512708" y="3808072"/>
              <a:ext cx="282569" cy="538227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endParaRPr>
            </a:p>
          </p:txBody>
        </p:sp>
        <p:sp>
          <p:nvSpPr>
            <p:cNvPr id="19478" name="文本框 40"/>
            <p:cNvSpPr txBox="1"/>
            <p:nvPr/>
          </p:nvSpPr>
          <p:spPr>
            <a:xfrm>
              <a:off x="3507998" y="4392694"/>
              <a:ext cx="2366416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控制系统</a:t>
              </a:r>
              <a:endPara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21509" name="组合 10"/>
          <p:cNvGrpSpPr/>
          <p:nvPr/>
        </p:nvGrpSpPr>
        <p:grpSpPr>
          <a:xfrm>
            <a:off x="2612312" y="1035326"/>
            <a:ext cx="6632575" cy="792153"/>
            <a:chOff x="2796635" y="1479810"/>
            <a:chExt cx="6632500" cy="791709"/>
          </a:xfrm>
        </p:grpSpPr>
        <p:cxnSp>
          <p:nvCxnSpPr>
            <p:cNvPr id="12" name="直接连接符 11"/>
            <p:cNvCxnSpPr/>
            <p:nvPr>
              <p:custDataLst>
                <p:tags r:id="rId2"/>
              </p:custDataLst>
            </p:nvPr>
          </p:nvCxnSpPr>
          <p:spPr>
            <a:xfrm flipV="1">
              <a:off x="3358604" y="2058913"/>
              <a:ext cx="6070531" cy="25386"/>
            </a:xfrm>
            <a:prstGeom prst="line">
              <a:avLst/>
            </a:prstGeom>
            <a:ln w="12700">
              <a:solidFill>
                <a:srgbClr val="014E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11" name="文本框 12"/>
            <p:cNvSpPr txBox="1"/>
            <p:nvPr>
              <p:custDataLst>
                <p:tags r:id="rId3"/>
              </p:custDataLst>
            </p:nvPr>
          </p:nvSpPr>
          <p:spPr>
            <a:xfrm>
              <a:off x="3441788" y="1479810"/>
              <a:ext cx="5784785" cy="7749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noAutofit/>
            </a:bodyPr>
            <a:lstStyle/>
            <a:p>
              <a:pPr algn="ctr"/>
              <a:r>
                <a:rPr lang="zh-CN" altLang="en-US" sz="3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过程与控制的三个典型环节</a:t>
              </a:r>
              <a:endPara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21512" name="组合 13"/>
            <p:cNvGrpSpPr/>
            <p:nvPr/>
          </p:nvGrpSpPr>
          <p:grpSpPr>
            <a:xfrm>
              <a:off x="2796635" y="1801906"/>
              <a:ext cx="445481" cy="469613"/>
              <a:chOff x="2121873" y="1511588"/>
              <a:chExt cx="445481" cy="469613"/>
            </a:xfrm>
          </p:grpSpPr>
          <p:sp>
            <p:nvSpPr>
              <p:cNvPr id="15" name="矩形 14"/>
              <p:cNvSpPr/>
              <p:nvPr>
                <p:custDataLst>
                  <p:tags r:id="rId4"/>
                </p:custDataLst>
              </p:nvPr>
            </p:nvSpPr>
            <p:spPr>
              <a:xfrm>
                <a:off x="2121873" y="1511565"/>
                <a:ext cx="363534" cy="363334"/>
              </a:xfrm>
              <a:prstGeom prst="rect">
                <a:avLst/>
              </a:prstGeom>
              <a:solidFill>
                <a:srgbClr val="014E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矩形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2321896" y="1735277"/>
                <a:ext cx="246060" cy="245924"/>
              </a:xfrm>
              <a:prstGeom prst="rect">
                <a:avLst/>
              </a:prstGeom>
              <a:solidFill>
                <a:srgbClr val="1784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2207895" y="2780665"/>
            <a:ext cx="8836660" cy="1875790"/>
            <a:chOff x="996172" y="4633625"/>
            <a:chExt cx="3643535" cy="741286"/>
          </a:xfrm>
        </p:grpSpPr>
        <p:grpSp>
          <p:nvGrpSpPr>
            <p:cNvPr id="23" name="组合 22"/>
            <p:cNvGrpSpPr/>
            <p:nvPr/>
          </p:nvGrpSpPr>
          <p:grpSpPr>
            <a:xfrm>
              <a:off x="996172" y="4633625"/>
              <a:ext cx="3287795" cy="540000"/>
              <a:chOff x="1635964" y="1686127"/>
              <a:chExt cx="3662867" cy="601602"/>
            </a:xfrm>
          </p:grpSpPr>
          <p:sp>
            <p:nvSpPr>
              <p:cNvPr id="24" name="圆角矩形 23"/>
              <p:cNvSpPr/>
              <p:nvPr>
                <p:custDataLst>
                  <p:tags r:id="rId2"/>
                </p:custDataLst>
              </p:nvPr>
            </p:nvSpPr>
            <p:spPr>
              <a:xfrm>
                <a:off x="1852333" y="1729911"/>
                <a:ext cx="3446498" cy="528105"/>
              </a:xfrm>
              <a:prstGeom prst="roundRect">
                <a:avLst/>
              </a:prstGeom>
              <a:solidFill>
                <a:srgbClr val="711000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矩形 24"/>
              <p:cNvSpPr/>
              <p:nvPr>
                <p:custDataLst>
                  <p:tags r:id="rId3"/>
                </p:custDataLst>
              </p:nvPr>
            </p:nvSpPr>
            <p:spPr>
              <a:xfrm rot="18614181">
                <a:off x="1635965" y="1686126"/>
                <a:ext cx="601602" cy="601603"/>
              </a:xfrm>
              <a:prstGeom prst="rect">
                <a:avLst/>
              </a:prstGeom>
              <a:solidFill>
                <a:srgbClr val="AF0000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6" name="文本框 25"/>
            <p:cNvSpPr txBox="1"/>
            <p:nvPr>
              <p:custDataLst>
                <p:tags r:id="rId4"/>
              </p:custDataLst>
            </p:nvPr>
          </p:nvSpPr>
          <p:spPr>
            <a:xfrm>
              <a:off x="1170860" y="4755081"/>
              <a:ext cx="3468847" cy="619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8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     </a:t>
              </a:r>
              <a:r>
                <a:rPr lang="zh-CN" altLang="en-US" sz="48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认识生活中的控制系统</a:t>
              </a:r>
              <a:endParaRPr lang="zh-CN" altLang="en-US" sz="4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endParaRPr lang="zh-CN" altLang="en-US" sz="4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7" name="图片 35"/>
          <p:cNvSpPr>
            <a:spLocks noChangeAspect="1"/>
          </p:cNvSpPr>
          <p:nvPr/>
        </p:nvSpPr>
        <p:spPr>
          <a:xfrm>
            <a:off x="5589588" y="1612900"/>
            <a:ext cx="930275" cy="10652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 dirty="0">
              <a:latin typeface="Calibri" panose="020F0502020204030204" charset="0"/>
            </a:endParaRPr>
          </a:p>
        </p:txBody>
      </p:sp>
      <p:grpSp>
        <p:nvGrpSpPr>
          <p:cNvPr id="17411" name="组合 11"/>
          <p:cNvGrpSpPr/>
          <p:nvPr/>
        </p:nvGrpSpPr>
        <p:grpSpPr>
          <a:xfrm>
            <a:off x="2150162" y="4231139"/>
            <a:ext cx="8110492" cy="1850121"/>
            <a:chOff x="1766568" y="2422698"/>
            <a:chExt cx="8330789" cy="2128392"/>
          </a:xfrm>
        </p:grpSpPr>
        <p:grpSp>
          <p:nvGrpSpPr>
            <p:cNvPr id="17419" name="组合 12"/>
            <p:cNvGrpSpPr/>
            <p:nvPr/>
          </p:nvGrpSpPr>
          <p:grpSpPr>
            <a:xfrm>
              <a:off x="3216917" y="3156646"/>
              <a:ext cx="6880440" cy="1394444"/>
              <a:chOff x="4155" y="89805"/>
              <a:chExt cx="7773" cy="1063"/>
            </a:xfrm>
          </p:grpSpPr>
          <p:sp>
            <p:nvSpPr>
              <p:cNvPr id="23" name="圆角矩形 3"/>
              <p:cNvSpPr/>
              <p:nvPr>
                <p:custDataLst>
                  <p:tags r:id="rId1"/>
                </p:custDataLst>
              </p:nvPr>
            </p:nvSpPr>
            <p:spPr>
              <a:xfrm>
                <a:off x="5217" y="89805"/>
                <a:ext cx="3007" cy="873"/>
              </a:xfrm>
              <a:prstGeom prst="roundRect">
                <a:avLst/>
              </a:prstGeom>
              <a:noFill/>
              <a:ln w="28575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  <p:grpSp>
            <p:nvGrpSpPr>
              <p:cNvPr id="17429" name="组合 24"/>
              <p:cNvGrpSpPr/>
              <p:nvPr/>
            </p:nvGrpSpPr>
            <p:grpSpPr>
              <a:xfrm>
                <a:off x="4155" y="90066"/>
                <a:ext cx="7773" cy="802"/>
                <a:chOff x="3576" y="8991"/>
                <a:chExt cx="7031" cy="802"/>
              </a:xfrm>
            </p:grpSpPr>
            <p:cxnSp>
              <p:nvCxnSpPr>
                <p:cNvPr id="17431" name="直接连接符 26"/>
                <p:cNvCxnSpPr/>
                <p:nvPr>
                  <p:custDataLst>
                    <p:tags r:id="rId2"/>
                  </p:custDataLst>
                </p:nvPr>
              </p:nvCxnSpPr>
              <p:spPr>
                <a:xfrm flipV="1">
                  <a:off x="3576" y="9127"/>
                  <a:ext cx="780" cy="5"/>
                </a:xfrm>
                <a:prstGeom prst="line">
                  <a:avLst/>
                </a:prstGeom>
                <a:ln w="19050" cap="flat" cmpd="sng">
                  <a:solidFill>
                    <a:srgbClr val="0070C0"/>
                  </a:solidFill>
                  <a:prstDash val="solid"/>
                  <a:headEnd type="none" w="med" len="med"/>
                  <a:tailEnd type="triangle" w="lg" len="lg"/>
                </a:ln>
              </p:spPr>
            </p:cxnSp>
            <p:sp>
              <p:nvSpPr>
                <p:cNvPr id="28" name="矩形 27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8312" y="8991"/>
                  <a:ext cx="2295" cy="8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upright="1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sz="2400" b="0" i="0" u="none" strike="noStrike" kern="1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pitchFamily="2" charset="-122"/>
                      <a:ea typeface="华文楷体" panose="02010600040101010101" pitchFamily="2" charset="-122"/>
                      <a:cs typeface="Times New Roman" panose="02020503050405090304" pitchFamily="18" charset="0"/>
                    </a:rPr>
                    <a:t>灯亮或者不亮</a:t>
                  </a:r>
                  <a:endParaRPr kumimoji="0" lang="zh-CN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endParaRPr>
                </a:p>
              </p:txBody>
            </p:sp>
          </p:grpSp>
        </p:grpSp>
        <p:grpSp>
          <p:nvGrpSpPr>
            <p:cNvPr id="17420" name="组合 13"/>
            <p:cNvGrpSpPr/>
            <p:nvPr/>
          </p:nvGrpSpPr>
          <p:grpSpPr>
            <a:xfrm>
              <a:off x="1766568" y="2422698"/>
              <a:ext cx="7901528" cy="541353"/>
              <a:chOff x="14182" y="60171"/>
              <a:chExt cx="8017" cy="394"/>
            </a:xfrm>
          </p:grpSpPr>
          <p:sp>
            <p:nvSpPr>
              <p:cNvPr id="20" name="文本框 259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7147" y="60171"/>
                <a:ext cx="1545" cy="311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计算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  <p:sp>
            <p:nvSpPr>
              <p:cNvPr id="21" name="文本框 26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4182" y="60239"/>
                <a:ext cx="1638" cy="32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输入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  <p:sp>
            <p:nvSpPr>
              <p:cNvPr id="22" name="文本框 26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0634" y="60180"/>
                <a:ext cx="1565" cy="311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输出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</p:grpSp>
        <p:sp>
          <p:nvSpPr>
            <p:cNvPr id="4" name="矩形 3"/>
            <p:cNvSpPr/>
            <p:nvPr>
              <p:custDataLst>
                <p:tags r:id="rId7"/>
              </p:custDataLst>
            </p:nvPr>
          </p:nvSpPr>
          <p:spPr>
            <a:xfrm>
              <a:off x="2107396" y="3254748"/>
              <a:ext cx="919017" cy="635542"/>
            </a:xfrm>
            <a:prstGeom prst="rect">
              <a:avLst/>
            </a:prstGeom>
            <a:noFill/>
            <a:ln>
              <a:noFill/>
            </a:ln>
          </p:spPr>
          <p:txBody>
            <a:bodyPr upright="1"/>
            <a:lstStyle/>
            <a:p>
              <a:pPr marL="0" marR="0" lvl="0" indent="0" algn="just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rPr>
                <a:t>声音</a:t>
              </a:r>
              <a:endParaRPr kumimoji="0" 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503050405090304" pitchFamily="18" charset="0"/>
              </a:endParaRPr>
            </a:p>
          </p:txBody>
        </p:sp>
      </p:grpSp>
      <p:cxnSp>
        <p:nvCxnSpPr>
          <p:cNvPr id="5" name="直接连接符 26"/>
          <p:cNvCxnSpPr/>
          <p:nvPr>
            <p:custDataLst>
              <p:tags r:id="rId8"/>
            </p:custDataLst>
          </p:nvPr>
        </p:nvCxnSpPr>
        <p:spPr>
          <a:xfrm flipV="1">
            <a:off x="7411529" y="5399930"/>
            <a:ext cx="743113" cy="5701"/>
          </a:xfrm>
          <a:prstGeom prst="line">
            <a:avLst/>
          </a:prstGeom>
          <a:ln w="19050" cap="flat" cmpd="sng">
            <a:solidFill>
              <a:srgbClr val="0070C0"/>
            </a:solidFill>
            <a:prstDash val="solid"/>
            <a:headEnd type="none" w="med" len="med"/>
            <a:tailEnd type="triangle" w="lg" len="lg"/>
          </a:ln>
        </p:spPr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6003" y="2004777"/>
            <a:ext cx="2352675" cy="1876425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10"/>
            </p:custDataLst>
          </p:nvPr>
        </p:nvSpPr>
        <p:spPr>
          <a:xfrm>
            <a:off x="4597163" y="4797481"/>
            <a:ext cx="3147695" cy="984250"/>
          </a:xfrm>
          <a:prstGeom prst="rect">
            <a:avLst/>
          </a:prstGeom>
          <a:noFill/>
          <a:ln>
            <a:noFill/>
          </a:ln>
        </p:spPr>
        <p:txBody>
          <a:bodyPr upright="1"/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503050405090304" pitchFamily="18" charset="0"/>
              </a:rPr>
              <a:t>处理检测到的信号，</a:t>
            </a:r>
            <a:endParaRPr kumimoji="0" 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503050405090304" pitchFamily="18" charset="0"/>
              </a:rPr>
              <a:t>生成工作指令</a:t>
            </a:r>
            <a:endParaRPr kumimoji="0" 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503050405090304" pitchFamily="18" charset="0"/>
            </a:endParaRPr>
          </a:p>
        </p:txBody>
      </p:sp>
      <p:pic>
        <p:nvPicPr>
          <p:cNvPr id="11" name="老师，我还看到过其他的灯，比如红外感应灯，当察觉有">
            <a:hlinkClick r:id="" action="ppaction://media"/>
          </p:cNvPr>
          <p:cNvPicPr>
            <a:picLocks noChangeAspect="1"/>
          </p:cNvPicPr>
          <p:nvPr>
            <a:audi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-959999" y="4122810"/>
            <a:ext cx="609600" cy="60960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3318001" y="980821"/>
            <a:ext cx="5148677" cy="855182"/>
            <a:chOff x="2796635" y="1416337"/>
            <a:chExt cx="5494366" cy="855182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3359872" y="2084299"/>
              <a:ext cx="4931129" cy="0"/>
            </a:xfrm>
            <a:prstGeom prst="line">
              <a:avLst/>
            </a:prstGeom>
            <a:ln w="12700">
              <a:solidFill>
                <a:srgbClr val="711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组合 14"/>
            <p:cNvGrpSpPr/>
            <p:nvPr/>
          </p:nvGrpSpPr>
          <p:grpSpPr>
            <a:xfrm>
              <a:off x="2796635" y="1801883"/>
              <a:ext cx="444898" cy="469636"/>
              <a:chOff x="2121873" y="1511565"/>
              <a:chExt cx="444898" cy="469636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2121873" y="1511565"/>
                <a:ext cx="362509" cy="363334"/>
              </a:xfrm>
              <a:prstGeom prst="rect">
                <a:avLst/>
              </a:prstGeom>
              <a:solidFill>
                <a:srgbClr val="711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2321104" y="1735277"/>
                <a:ext cx="245667" cy="245924"/>
              </a:xfrm>
              <a:prstGeom prst="rect">
                <a:avLst/>
              </a:prstGeom>
              <a:solidFill>
                <a:srgbClr val="AE02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AE0203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6" name="文本框 8"/>
            <p:cNvSpPr txBox="1"/>
            <p:nvPr/>
          </p:nvSpPr>
          <p:spPr>
            <a:xfrm>
              <a:off x="3326546" y="1416337"/>
              <a:ext cx="4848482" cy="5529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楼道声控灯</a:t>
              </a:r>
              <a:endPara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3287" y="3482732"/>
            <a:ext cx="929139" cy="2499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1631950" y="2205355"/>
            <a:ext cx="10041255" cy="6134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ts val="36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503050405090304" pitchFamily="18" charset="0"/>
                <a:ea typeface="华文楷体" panose="02010600040101010101" pitchFamily="2" charset="-122"/>
                <a:cs typeface="+mn-cs"/>
              </a:rPr>
              <a:t>       </a:t>
            </a:r>
            <a:r>
              <a:rPr kumimoji="0" lang="zh-CN" altLang="en-US" sz="2400" b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503050405090304" pitchFamily="18" charset="0"/>
                <a:ea typeface="华文楷体" panose="02010600040101010101" pitchFamily="2" charset="-122"/>
                <a:cs typeface="+mn-cs"/>
              </a:rPr>
              <a:t>1. 说出处理文档时所使用的输入设备和输出设备。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Times New Roman" panose="02020503050405090304" pitchFamily="18" charset="0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5607" name="图片 35"/>
          <p:cNvSpPr>
            <a:spLocks noChangeAspect="1"/>
          </p:cNvSpPr>
          <p:nvPr/>
        </p:nvSpPr>
        <p:spPr>
          <a:xfrm>
            <a:off x="5542598" y="1424305"/>
            <a:ext cx="930275" cy="10652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 dirty="0">
              <a:latin typeface="Calibri" panose="020F0502020204030204" charset="0"/>
            </a:endParaRPr>
          </a:p>
        </p:txBody>
      </p:sp>
      <p:pic>
        <p:nvPicPr>
          <p:cNvPr id="11" name="附件2  课内练习背景音乐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752.000000" end="72953.851563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3152000" y="4941000"/>
            <a:ext cx="609600" cy="6096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344000" y="1020926"/>
            <a:ext cx="9432000" cy="1015663"/>
            <a:chOff x="2796635" y="1416337"/>
            <a:chExt cx="9398238" cy="1015663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359872" y="2084299"/>
              <a:ext cx="8835001" cy="0"/>
            </a:xfrm>
            <a:prstGeom prst="line">
              <a:avLst/>
            </a:prstGeom>
            <a:ln w="12700">
              <a:solidFill>
                <a:srgbClr val="711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组合 12"/>
            <p:cNvGrpSpPr/>
            <p:nvPr/>
          </p:nvGrpSpPr>
          <p:grpSpPr>
            <a:xfrm>
              <a:off x="2796635" y="1801883"/>
              <a:ext cx="444898" cy="469636"/>
              <a:chOff x="2121873" y="1511565"/>
              <a:chExt cx="444898" cy="469636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2121873" y="1511565"/>
                <a:ext cx="362509" cy="363334"/>
              </a:xfrm>
              <a:prstGeom prst="rect">
                <a:avLst/>
              </a:prstGeom>
              <a:solidFill>
                <a:srgbClr val="711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2321104" y="1735277"/>
                <a:ext cx="245667" cy="245924"/>
              </a:xfrm>
              <a:prstGeom prst="rect">
                <a:avLst/>
              </a:prstGeom>
              <a:solidFill>
                <a:srgbClr val="AE02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AE0203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4" name="文本框 8"/>
            <p:cNvSpPr txBox="1"/>
            <p:nvPr/>
          </p:nvSpPr>
          <p:spPr>
            <a:xfrm>
              <a:off x="3326545" y="1416337"/>
              <a:ext cx="8867527" cy="10156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活动：用计算机输汉字过程中的输入、计算与输出</a:t>
              </a:r>
              <a:endPara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056000" y="3662157"/>
            <a:ext cx="879733" cy="247389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25905" y="3649430"/>
            <a:ext cx="929139" cy="2499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348" y="2816956"/>
            <a:ext cx="2857992" cy="3482586"/>
          </a:xfrm>
          <a:prstGeom prst="rect">
            <a:avLst/>
          </a:prstGeom>
        </p:spPr>
      </p:pic>
      <p:pic>
        <p:nvPicPr>
          <p:cNvPr id="8" name="老师，刚刚的过程中，我用键盘进行了打字，所以我觉得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1294562" y="3662157"/>
            <a:ext cx="609600" cy="609600"/>
          </a:xfrm>
          <a:prstGeom prst="rect">
            <a:avLst/>
          </a:prstGeom>
        </p:spPr>
      </p:pic>
      <p:pic>
        <p:nvPicPr>
          <p:cNvPr id="18" name="老师，我通过麦克风，用语音的方式进行了文字输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1294562" y="479700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7" name="图片 35"/>
          <p:cNvSpPr>
            <a:spLocks noChangeAspect="1"/>
          </p:cNvSpPr>
          <p:nvPr/>
        </p:nvSpPr>
        <p:spPr>
          <a:xfrm>
            <a:off x="5589588" y="1612900"/>
            <a:ext cx="930275" cy="10652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 dirty="0">
              <a:latin typeface="Calibri" panose="020F0502020204030204" charset="0"/>
            </a:endParaRPr>
          </a:p>
        </p:txBody>
      </p:sp>
      <p:grpSp>
        <p:nvGrpSpPr>
          <p:cNvPr id="17411" name="组合 11"/>
          <p:cNvGrpSpPr/>
          <p:nvPr/>
        </p:nvGrpSpPr>
        <p:grpSpPr>
          <a:xfrm>
            <a:off x="1415808" y="3283663"/>
            <a:ext cx="8974305" cy="1635746"/>
            <a:chOff x="878313" y="2422698"/>
            <a:chExt cx="9218065" cy="1881773"/>
          </a:xfrm>
        </p:grpSpPr>
        <p:grpSp>
          <p:nvGrpSpPr>
            <p:cNvPr id="17419" name="组合 12"/>
            <p:cNvGrpSpPr/>
            <p:nvPr/>
          </p:nvGrpSpPr>
          <p:grpSpPr>
            <a:xfrm>
              <a:off x="3216917" y="3156646"/>
              <a:ext cx="6879461" cy="1147825"/>
              <a:chOff x="4155" y="89805"/>
              <a:chExt cx="7772" cy="875"/>
            </a:xfrm>
          </p:grpSpPr>
          <p:sp>
            <p:nvSpPr>
              <p:cNvPr id="23" name="圆角矩形 3"/>
              <p:cNvSpPr/>
              <p:nvPr>
                <p:custDataLst>
                  <p:tags r:id="rId1"/>
                </p:custDataLst>
              </p:nvPr>
            </p:nvSpPr>
            <p:spPr>
              <a:xfrm>
                <a:off x="5217" y="89805"/>
                <a:ext cx="3007" cy="873"/>
              </a:xfrm>
              <a:prstGeom prst="roundRect">
                <a:avLst/>
              </a:prstGeom>
              <a:noFill/>
              <a:ln w="28575"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  <p:grpSp>
            <p:nvGrpSpPr>
              <p:cNvPr id="17429" name="组合 24"/>
              <p:cNvGrpSpPr/>
              <p:nvPr/>
            </p:nvGrpSpPr>
            <p:grpSpPr>
              <a:xfrm>
                <a:off x="4155" y="89878"/>
                <a:ext cx="7772" cy="802"/>
                <a:chOff x="3576" y="8803"/>
                <a:chExt cx="7030" cy="802"/>
              </a:xfrm>
            </p:grpSpPr>
            <p:cxnSp>
              <p:nvCxnSpPr>
                <p:cNvPr id="17431" name="直接连接符 26"/>
                <p:cNvCxnSpPr/>
                <p:nvPr>
                  <p:custDataLst>
                    <p:tags r:id="rId2"/>
                  </p:custDataLst>
                </p:nvPr>
              </p:nvCxnSpPr>
              <p:spPr>
                <a:xfrm flipV="1">
                  <a:off x="3576" y="9127"/>
                  <a:ext cx="780" cy="5"/>
                </a:xfrm>
                <a:prstGeom prst="line">
                  <a:avLst/>
                </a:prstGeom>
                <a:ln w="19050" cap="flat" cmpd="sng">
                  <a:solidFill>
                    <a:srgbClr val="0070C0"/>
                  </a:solidFill>
                  <a:prstDash val="solid"/>
                  <a:headEnd type="none" w="med" len="med"/>
                  <a:tailEnd type="triangle" w="lg" len="lg"/>
                </a:ln>
              </p:spPr>
            </p:cxnSp>
            <p:sp>
              <p:nvSpPr>
                <p:cNvPr id="28" name="矩形 27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8311" y="8803"/>
                  <a:ext cx="2295" cy="8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upright="1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sz="2400" b="0" i="0" u="none" strike="noStrike" kern="1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pitchFamily="2" charset="-122"/>
                      <a:ea typeface="华文楷体" panose="02010600040101010101" pitchFamily="2" charset="-122"/>
                      <a:cs typeface="Times New Roman" panose="02020503050405090304" pitchFamily="18" charset="0"/>
                    </a:rPr>
                    <a:t>例如在屏幕上显示信息</a:t>
                  </a:r>
                  <a:endParaRPr kumimoji="0" lang="zh-CN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endParaRPr>
                </a:p>
              </p:txBody>
            </p:sp>
          </p:grpSp>
        </p:grpSp>
        <p:grpSp>
          <p:nvGrpSpPr>
            <p:cNvPr id="17420" name="组合 13"/>
            <p:cNvGrpSpPr/>
            <p:nvPr/>
          </p:nvGrpSpPr>
          <p:grpSpPr>
            <a:xfrm>
              <a:off x="1174224" y="2422698"/>
              <a:ext cx="8493872" cy="533109"/>
              <a:chOff x="13581" y="60171"/>
              <a:chExt cx="8618" cy="388"/>
            </a:xfrm>
          </p:grpSpPr>
          <p:sp>
            <p:nvSpPr>
              <p:cNvPr id="20" name="文本框 259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7147" y="60171"/>
                <a:ext cx="1545" cy="311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计算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  <p:sp>
            <p:nvSpPr>
              <p:cNvPr id="21" name="文本框 26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3581" y="60233"/>
                <a:ext cx="1638" cy="32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输入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  <p:sp>
            <p:nvSpPr>
              <p:cNvPr id="22" name="文本框 26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20634" y="60180"/>
                <a:ext cx="1565" cy="311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2400" b="1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输出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dk1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503050405090304" pitchFamily="18" charset="0"/>
                  </a:rPr>
                  <a:t> </a:t>
                </a:r>
                <a:endPara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endParaRPr>
              </a:p>
            </p:txBody>
          </p:sp>
        </p:grpSp>
        <p:sp>
          <p:nvSpPr>
            <p:cNvPr id="4" name="矩形 3"/>
            <p:cNvSpPr/>
            <p:nvPr>
              <p:custDataLst>
                <p:tags r:id="rId7"/>
              </p:custDataLst>
            </p:nvPr>
          </p:nvSpPr>
          <p:spPr>
            <a:xfrm>
              <a:off x="878313" y="3252555"/>
              <a:ext cx="2042188" cy="635542"/>
            </a:xfrm>
            <a:prstGeom prst="rect">
              <a:avLst/>
            </a:prstGeom>
            <a:noFill/>
            <a:ln>
              <a:noFill/>
            </a:ln>
          </p:spPr>
          <p:txBody>
            <a:bodyPr upright="1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sz="2400" b="0" i="0" u="none" strike="noStrike" kern="1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503050405090304" pitchFamily="18" charset="0"/>
                </a:rPr>
                <a:t>例如用键盘输入信息</a:t>
              </a:r>
              <a:endParaRPr kumimoji="0" lang="zh-CN" sz="24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503050405090304" pitchFamily="18" charset="0"/>
              </a:endParaRPr>
            </a:p>
          </p:txBody>
        </p:sp>
      </p:grpSp>
      <p:cxnSp>
        <p:nvCxnSpPr>
          <p:cNvPr id="5" name="直接连接符 26"/>
          <p:cNvCxnSpPr/>
          <p:nvPr>
            <p:custDataLst>
              <p:tags r:id="rId8"/>
            </p:custDataLst>
          </p:nvPr>
        </p:nvCxnSpPr>
        <p:spPr>
          <a:xfrm flipV="1">
            <a:off x="7541941" y="4452454"/>
            <a:ext cx="743113" cy="5701"/>
          </a:xfrm>
          <a:prstGeom prst="line">
            <a:avLst/>
          </a:prstGeom>
          <a:ln w="19050" cap="flat" cmpd="sng">
            <a:solidFill>
              <a:srgbClr val="0070C0"/>
            </a:solidFill>
            <a:prstDash val="solid"/>
            <a:headEnd type="none" w="med" len="med"/>
            <a:tailEnd type="triangle" w="lg" len="lg"/>
          </a:ln>
        </p:spPr>
      </p:cxnSp>
      <p:sp>
        <p:nvSpPr>
          <p:cNvPr id="7" name="矩形 6"/>
          <p:cNvSpPr/>
          <p:nvPr>
            <p:custDataLst>
              <p:tags r:id="rId9"/>
            </p:custDataLst>
          </p:nvPr>
        </p:nvSpPr>
        <p:spPr>
          <a:xfrm>
            <a:off x="4727575" y="3850005"/>
            <a:ext cx="3147695" cy="984250"/>
          </a:xfrm>
          <a:prstGeom prst="rect">
            <a:avLst/>
          </a:prstGeom>
          <a:noFill/>
          <a:ln>
            <a:noFill/>
          </a:ln>
        </p:spPr>
        <p:txBody>
          <a:bodyPr upright="1"/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503050405090304" pitchFamily="18" charset="0"/>
              </a:rPr>
              <a:t>处理检测到的信号，</a:t>
            </a:r>
            <a:endParaRPr kumimoji="0" 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50305040509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503050405090304" pitchFamily="18" charset="0"/>
              </a:rPr>
              <a:t>生成工作指令</a:t>
            </a:r>
            <a:endParaRPr kumimoji="0" lang="zh-CN" sz="20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50305040509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44000" y="1020926"/>
            <a:ext cx="9432000" cy="1015663"/>
            <a:chOff x="2796635" y="1416337"/>
            <a:chExt cx="9398238" cy="1015663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3359872" y="2084299"/>
              <a:ext cx="8835001" cy="0"/>
            </a:xfrm>
            <a:prstGeom prst="line">
              <a:avLst/>
            </a:prstGeom>
            <a:ln w="12700">
              <a:solidFill>
                <a:srgbClr val="711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1"/>
            <p:cNvGrpSpPr/>
            <p:nvPr/>
          </p:nvGrpSpPr>
          <p:grpSpPr>
            <a:xfrm>
              <a:off x="2796635" y="1801883"/>
              <a:ext cx="444898" cy="469636"/>
              <a:chOff x="2121873" y="1511565"/>
              <a:chExt cx="444898" cy="469636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2121873" y="1511565"/>
                <a:ext cx="362509" cy="363334"/>
              </a:xfrm>
              <a:prstGeom prst="rect">
                <a:avLst/>
              </a:prstGeom>
              <a:solidFill>
                <a:srgbClr val="711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2321104" y="1735277"/>
                <a:ext cx="245667" cy="245924"/>
              </a:xfrm>
              <a:prstGeom prst="rect">
                <a:avLst/>
              </a:prstGeom>
              <a:solidFill>
                <a:srgbClr val="AE02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AE0203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4" name="文本框 8"/>
            <p:cNvSpPr txBox="1"/>
            <p:nvPr/>
          </p:nvSpPr>
          <p:spPr>
            <a:xfrm>
              <a:off x="3326545" y="1416337"/>
              <a:ext cx="8867527" cy="10156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活动：用计算机输汉字过程中的输入、计算与输出</a:t>
              </a:r>
              <a:endPara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583183" y="1149485"/>
            <a:ext cx="8806930" cy="855182"/>
            <a:chOff x="2796635" y="1416337"/>
            <a:chExt cx="9398238" cy="855182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3359872" y="2084299"/>
              <a:ext cx="8835001" cy="0"/>
            </a:xfrm>
            <a:prstGeom prst="line">
              <a:avLst/>
            </a:prstGeom>
            <a:ln w="12700">
              <a:solidFill>
                <a:srgbClr val="711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2796635" y="1801883"/>
              <a:ext cx="444898" cy="469636"/>
              <a:chOff x="2121873" y="1511565"/>
              <a:chExt cx="444898" cy="469636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2121873" y="1511565"/>
                <a:ext cx="362509" cy="363334"/>
              </a:xfrm>
              <a:prstGeom prst="rect">
                <a:avLst/>
              </a:prstGeom>
              <a:solidFill>
                <a:srgbClr val="711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2321104" y="1735277"/>
                <a:ext cx="245667" cy="245924"/>
              </a:xfrm>
              <a:prstGeom prst="rect">
                <a:avLst/>
              </a:prstGeom>
              <a:solidFill>
                <a:srgbClr val="AE02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AE0203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2" name="文本框 8"/>
            <p:cNvSpPr txBox="1"/>
            <p:nvPr/>
          </p:nvSpPr>
          <p:spPr>
            <a:xfrm>
              <a:off x="3326545" y="1416337"/>
              <a:ext cx="8867527" cy="5529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体验生活中的过程与控制</a:t>
              </a:r>
              <a:endParaRPr lang="zh-CN" altLang="en-US" sz="3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3" name="未命名_2024820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1752000" y="4025311"/>
            <a:ext cx="609600" cy="609600"/>
          </a:xfrm>
          <a:prstGeom prst="rect">
            <a:avLst/>
          </a:prstGeom>
        </p:spPr>
      </p:pic>
      <p:pic>
        <p:nvPicPr>
          <p:cNvPr id="4" name="老师，视频中还通过手指点击屏幕，打开了音乐软件让我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1752000" y="5229000"/>
            <a:ext cx="609600" cy="609600"/>
          </a:xfrm>
          <a:prstGeom prst="rect">
            <a:avLst/>
          </a:prstGeom>
        </p:spPr>
      </p:pic>
      <p:pic>
        <p:nvPicPr>
          <p:cNvPr id="5" name="be0dfd624a2ace342f48ec43b21b607d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>
                  <p14:trim st="5284.000000"/>
                </p14:media>
              </p:ext>
            </p:extLst>
          </p:nvPr>
        </p:nvPicPr>
        <p:blipFill rotWithShape="1">
          <a:blip r:embed="rId8"/>
          <a:srcRect l="5503" t="10048" r="10413" b="14599"/>
          <a:stretch>
            <a:fillRect/>
          </a:stretch>
        </p:blipFill>
        <p:spPr>
          <a:xfrm rot="16200000">
            <a:off x="4596241" y="2018041"/>
            <a:ext cx="2711517" cy="432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056000" y="3662157"/>
            <a:ext cx="879733" cy="24738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25905" y="3649430"/>
            <a:ext cx="929139" cy="2499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696000" y="2061000"/>
            <a:ext cx="4154460" cy="539750"/>
            <a:chOff x="996174" y="2188583"/>
            <a:chExt cx="4167814" cy="540000"/>
          </a:xfrm>
        </p:grpSpPr>
        <p:grpSp>
          <p:nvGrpSpPr>
            <p:cNvPr id="18" name="组合 17"/>
            <p:cNvGrpSpPr/>
            <p:nvPr/>
          </p:nvGrpSpPr>
          <p:grpSpPr>
            <a:xfrm>
              <a:off x="996174" y="2188583"/>
              <a:ext cx="4167814" cy="540000"/>
              <a:chOff x="1635965" y="1686127"/>
              <a:chExt cx="4643279" cy="601602"/>
            </a:xfrm>
          </p:grpSpPr>
          <p:sp>
            <p:nvSpPr>
              <p:cNvPr id="19" name="圆角矩形 18"/>
              <p:cNvSpPr/>
              <p:nvPr>
                <p:custDataLst>
                  <p:tags r:id="rId2"/>
                </p:custDataLst>
              </p:nvPr>
            </p:nvSpPr>
            <p:spPr>
              <a:xfrm>
                <a:off x="1852529" y="1759735"/>
                <a:ext cx="4426715" cy="498268"/>
              </a:xfrm>
              <a:prstGeom prst="roundRect">
                <a:avLst/>
              </a:prstGeom>
              <a:solidFill>
                <a:srgbClr val="01431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0" name="矩形 19"/>
              <p:cNvSpPr/>
              <p:nvPr>
                <p:custDataLst>
                  <p:tags r:id="rId3"/>
                </p:custDataLst>
              </p:nvPr>
            </p:nvSpPr>
            <p:spPr>
              <a:xfrm rot="18614181">
                <a:off x="1635965" y="1686126"/>
                <a:ext cx="601602" cy="601603"/>
              </a:xfrm>
              <a:prstGeom prst="rect">
                <a:avLst/>
              </a:prstGeom>
              <a:solidFill>
                <a:srgbClr val="01621F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1" name="文本框 20"/>
            <p:cNvSpPr txBox="1"/>
            <p:nvPr>
              <p:custDataLst>
                <p:tags r:id="rId4"/>
              </p:custDataLst>
            </p:nvPr>
          </p:nvSpPr>
          <p:spPr>
            <a:xfrm>
              <a:off x="1061173" y="2238771"/>
              <a:ext cx="3934549" cy="460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    </a:t>
              </a:r>
              <a:r>
                <a:rPr lang="zh-CN" altLang="en-US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了解过程中的控制</a:t>
              </a:r>
              <a:endParaRPr lang="zh-CN" altLang="en-US" sz="24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31" name="标题 27"/>
          <p:cNvSpPr>
            <a:spLocks noGrp="1"/>
          </p:cNvSpPr>
          <p:nvPr>
            <p:ph type="title" idx="4294967295"/>
          </p:nvPr>
        </p:nvSpPr>
        <p:spPr>
          <a:xfrm>
            <a:off x="3766185" y="1052830"/>
            <a:ext cx="4660265" cy="57404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3000" dirty="0"/>
              <a:t>输入输出与计算</a:t>
            </a:r>
            <a:endParaRPr lang="zh-CN" altLang="en-US" sz="3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8" name="组合 37"/>
          <p:cNvGrpSpPr/>
          <p:nvPr>
            <p:custDataLst>
              <p:tags r:id="rId5"/>
            </p:custDataLst>
          </p:nvPr>
        </p:nvGrpSpPr>
        <p:grpSpPr>
          <a:xfrm>
            <a:off x="830229" y="4667987"/>
            <a:ext cx="6242333" cy="563790"/>
            <a:chOff x="1006682" y="4582902"/>
            <a:chExt cx="4793300" cy="564051"/>
          </a:xfrm>
        </p:grpSpPr>
        <p:grpSp>
          <p:nvGrpSpPr>
            <p:cNvPr id="39" name="组合 38"/>
            <p:cNvGrpSpPr/>
            <p:nvPr/>
          </p:nvGrpSpPr>
          <p:grpSpPr>
            <a:xfrm>
              <a:off x="1006682" y="4582902"/>
              <a:ext cx="3277286" cy="564051"/>
              <a:chOff x="1647672" y="1629619"/>
              <a:chExt cx="3651159" cy="628397"/>
            </a:xfrm>
          </p:grpSpPr>
          <p:sp>
            <p:nvSpPr>
              <p:cNvPr id="40" name="圆角矩形 39"/>
              <p:cNvSpPr/>
              <p:nvPr>
                <p:custDataLst>
                  <p:tags r:id="rId6"/>
                </p:custDataLst>
              </p:nvPr>
            </p:nvSpPr>
            <p:spPr>
              <a:xfrm>
                <a:off x="1852333" y="1729911"/>
                <a:ext cx="3446498" cy="528105"/>
              </a:xfrm>
              <a:prstGeom prst="roundRect">
                <a:avLst/>
              </a:prstGeom>
              <a:solidFill>
                <a:srgbClr val="711000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1" name="矩形 40"/>
              <p:cNvSpPr/>
              <p:nvPr>
                <p:custDataLst>
                  <p:tags r:id="rId7"/>
                </p:custDataLst>
              </p:nvPr>
            </p:nvSpPr>
            <p:spPr>
              <a:xfrm rot="18614181">
                <a:off x="1575194" y="1702097"/>
                <a:ext cx="616456" cy="471499"/>
              </a:xfrm>
              <a:prstGeom prst="rect">
                <a:avLst/>
              </a:prstGeom>
              <a:solidFill>
                <a:srgbClr val="AF0000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2" name="文本框 41"/>
            <p:cNvSpPr txBox="1"/>
            <p:nvPr>
              <p:custDataLst>
                <p:tags r:id="rId8"/>
              </p:custDataLst>
            </p:nvPr>
          </p:nvSpPr>
          <p:spPr>
            <a:xfrm>
              <a:off x="1084861" y="4677005"/>
              <a:ext cx="4715121" cy="460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     </a:t>
              </a:r>
              <a:r>
                <a:rPr lang="zh-CN" altLang="en-US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认识生活中的控制系统</a:t>
              </a:r>
              <a:endParaRPr lang="zh-CN" altLang="en-US" sz="24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9"/>
            </p:custDataLst>
          </p:nvPr>
        </p:nvGrpSpPr>
        <p:grpSpPr>
          <a:xfrm>
            <a:off x="760791" y="3414426"/>
            <a:ext cx="4183582" cy="539750"/>
            <a:chOff x="996172" y="3505024"/>
            <a:chExt cx="4102607" cy="540000"/>
          </a:xfrm>
        </p:grpSpPr>
        <p:grpSp>
          <p:nvGrpSpPr>
            <p:cNvPr id="44" name="组合 43"/>
            <p:cNvGrpSpPr/>
            <p:nvPr/>
          </p:nvGrpSpPr>
          <p:grpSpPr>
            <a:xfrm>
              <a:off x="996172" y="3505024"/>
              <a:ext cx="4102607" cy="540000"/>
              <a:chOff x="1635964" y="1686127"/>
              <a:chExt cx="4570633" cy="601602"/>
            </a:xfrm>
          </p:grpSpPr>
          <p:sp>
            <p:nvSpPr>
              <p:cNvPr id="45" name="圆角矩形 44"/>
              <p:cNvSpPr/>
              <p:nvPr>
                <p:custDataLst>
                  <p:tags r:id="rId10"/>
                </p:custDataLst>
              </p:nvPr>
            </p:nvSpPr>
            <p:spPr>
              <a:xfrm>
                <a:off x="1852332" y="1729910"/>
                <a:ext cx="4354265" cy="528105"/>
              </a:xfrm>
              <a:prstGeom prst="roundRect">
                <a:avLst/>
              </a:prstGeom>
              <a:solidFill>
                <a:srgbClr val="014E6A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矩形 45"/>
              <p:cNvSpPr/>
              <p:nvPr>
                <p:custDataLst>
                  <p:tags r:id="rId11"/>
                </p:custDataLst>
              </p:nvPr>
            </p:nvSpPr>
            <p:spPr>
              <a:xfrm rot="18614181">
                <a:off x="1635965" y="1686126"/>
                <a:ext cx="601602" cy="601603"/>
              </a:xfrm>
              <a:prstGeom prst="rect">
                <a:avLst/>
              </a:prstGeom>
              <a:solidFill>
                <a:srgbClr val="1784AD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7" name="文本框 46"/>
            <p:cNvSpPr txBox="1"/>
            <p:nvPr>
              <p:custDataLst>
                <p:tags r:id="rId12"/>
              </p:custDataLst>
            </p:nvPr>
          </p:nvSpPr>
          <p:spPr>
            <a:xfrm>
              <a:off x="1084860" y="3548404"/>
              <a:ext cx="4013919" cy="461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     </a:t>
              </a:r>
              <a:r>
                <a:rPr lang="zh-CN" altLang="en-US" sz="2400" dirty="0">
                  <a:solidFill>
                    <a:prstClr val="white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分析控制系统的典型环节</a:t>
              </a:r>
              <a:endParaRPr lang="zh-CN" altLang="en-US" sz="24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4" name="矩形 3"/>
          <p:cNvSpPr/>
          <p:nvPr>
            <p:custDataLst>
              <p:tags r:id="rId13"/>
            </p:custDataLst>
          </p:nvPr>
        </p:nvSpPr>
        <p:spPr>
          <a:xfrm>
            <a:off x="1535430" y="2475230"/>
            <a:ext cx="8478520" cy="857250"/>
          </a:xfrm>
          <a:prstGeom prst="rect">
            <a:avLst/>
          </a:prstGeom>
          <a:noFill/>
          <a:ln>
            <a:noFill/>
          </a:ln>
        </p:spPr>
        <p:txBody>
          <a:bodyPr upright="1"/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10665" y="4947285"/>
            <a:ext cx="8121015" cy="622935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zh-CN" sz="2400" kern="100" noProof="0" dirty="0">
              <a:ln>
                <a:noFill/>
              </a:ln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0000" y="2787354"/>
            <a:ext cx="852805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Times New Roman" panose="02020503050405090304" pitchFamily="18" charset="0"/>
                <a:ea typeface="华文楷体" panose="02010600040101010101" pitchFamily="2" charset="-122"/>
                <a:sym typeface="+mn-ea"/>
              </a:rPr>
              <a:t>在控制系统中，控制是非常重要的。</a:t>
            </a:r>
            <a:endParaRPr kumimoji="0" lang="zh-CN" altLang="zh-CN" sz="24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07630" y="4157493"/>
            <a:ext cx="698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>
                <a:latin typeface="Times New Roman" panose="02020503050405090304" pitchFamily="18" charset="0"/>
                <a:ea typeface="华文楷体" panose="02010600040101010101" pitchFamily="2" charset="-122"/>
              </a:rPr>
              <a:t>输入、计算、输出</a:t>
            </a:r>
            <a:r>
              <a:rPr lang="zh-CN" altLang="en-US" sz="2400" dirty="0">
                <a:latin typeface="Times New Roman" panose="02020503050405090304" pitchFamily="18" charset="0"/>
                <a:ea typeface="华文楷体" panose="02010600040101010101" pitchFamily="2" charset="-122"/>
                <a:sym typeface="+mn-ea"/>
              </a:rPr>
              <a:t>是控制系统工作的三个基本环节。</a:t>
            </a:r>
            <a:endParaRPr lang="zh-CN" altLang="en-US" sz="2400" dirty="0">
              <a:latin typeface="Times New Roman" panose="02020503050405090304" pitchFamily="18" charset="0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96531" y="5436682"/>
            <a:ext cx="7540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Times New Roman" panose="02020503050405090304" pitchFamily="18" charset="0"/>
                <a:ea typeface="华文楷体" panose="02010600040101010101" pitchFamily="2" charset="-122"/>
                <a:sym typeface="+mn-ea"/>
              </a:rPr>
              <a:t>所有控制系统都可以用输入计算输出的模式进行理解。</a:t>
            </a:r>
            <a:endParaRPr lang="zh-CN" altLang="zh-CN" sz="2400" dirty="0">
              <a:latin typeface="Times New Roman" panose="0202050305040509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/>
          <p:cNvCxnSpPr/>
          <p:nvPr/>
        </p:nvCxnSpPr>
        <p:spPr>
          <a:xfrm flipV="1">
            <a:off x="2576987" y="4867910"/>
            <a:ext cx="685165" cy="508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550442" y="4076065"/>
            <a:ext cx="2117725" cy="1736090"/>
          </a:xfrm>
          <a:prstGeom prst="rect">
            <a:avLst/>
          </a:prstGeom>
          <a:solidFill>
            <a:srgbClr val="DED1B5"/>
          </a:solidFill>
          <a:ln w="28575">
            <a:solidFill>
              <a:srgbClr val="5B56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lang="zh-CN" altLang="en-US" sz="24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计算：</a:t>
            </a:r>
            <a:endParaRPr lang="zh-CN" altLang="en-US" b="1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处理检测到的信号，生成指令</a:t>
            </a:r>
            <a:endParaRPr lang="zh-CN" altLang="en-US" sz="200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6070122" y="4862830"/>
            <a:ext cx="685165" cy="508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"/>
          <p:cNvSpPr txBox="1"/>
          <p:nvPr>
            <p:custDataLst>
              <p:tags r:id="rId1"/>
            </p:custDataLst>
          </p:nvPr>
        </p:nvSpPr>
        <p:spPr>
          <a:xfrm>
            <a:off x="814227" y="4363720"/>
            <a:ext cx="207581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输入</a:t>
            </a:r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endParaRPr lang="zh-CN" altLang="en-US" sz="24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4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4227" y="493966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_________</a:t>
            </a:r>
            <a:endParaRPr lang="en-US" altLang="zh-CN" sz="2400" b="1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8" name="文本框 15"/>
          <p:cNvSpPr txBox="1"/>
          <p:nvPr>
            <p:custDataLst>
              <p:tags r:id="rId2"/>
            </p:custDataLst>
          </p:nvPr>
        </p:nvSpPr>
        <p:spPr>
          <a:xfrm>
            <a:off x="6913402" y="4363720"/>
            <a:ext cx="207581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输出</a:t>
            </a:r>
            <a:r>
              <a:rPr lang="en-US" altLang="zh-CN" sz="24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endParaRPr lang="zh-CN" altLang="en-US" sz="24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400" b="1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41647" y="49409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_________</a:t>
            </a:r>
            <a:endParaRPr lang="en-US" altLang="zh-CN" sz="2400" b="1" dirty="0">
              <a:solidFill>
                <a:srgbClr val="00B0F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48747" y="1147735"/>
            <a:ext cx="8163661" cy="854834"/>
            <a:chOff x="2023840" y="1220470"/>
            <a:chExt cx="8163661" cy="854834"/>
          </a:xfrm>
        </p:grpSpPr>
        <p:cxnSp>
          <p:nvCxnSpPr>
            <p:cNvPr id="12" name="直接连接符 11"/>
            <p:cNvCxnSpPr/>
            <p:nvPr/>
          </p:nvCxnSpPr>
          <p:spPr>
            <a:xfrm flipV="1">
              <a:off x="2699581" y="1878210"/>
              <a:ext cx="7487920" cy="31750"/>
            </a:xfrm>
            <a:prstGeom prst="line">
              <a:avLst/>
            </a:prstGeom>
            <a:ln w="12700">
              <a:solidFill>
                <a:srgbClr val="0143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组合 12"/>
            <p:cNvGrpSpPr/>
            <p:nvPr/>
          </p:nvGrpSpPr>
          <p:grpSpPr>
            <a:xfrm>
              <a:off x="2023840" y="1605691"/>
              <a:ext cx="445481" cy="469613"/>
              <a:chOff x="2121873" y="1511588"/>
              <a:chExt cx="445481" cy="469613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2121873" y="1511588"/>
                <a:ext cx="363415" cy="363415"/>
              </a:xfrm>
              <a:prstGeom prst="rect">
                <a:avLst/>
              </a:prstGeom>
              <a:solidFill>
                <a:srgbClr val="014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2321171" y="1735018"/>
                <a:ext cx="246183" cy="246183"/>
              </a:xfrm>
              <a:prstGeom prst="rect">
                <a:avLst/>
              </a:prstGeom>
              <a:solidFill>
                <a:srgbClr val="01621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2578100" y="1220470"/>
              <a:ext cx="6763385" cy="553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课后思考</a:t>
              </a:r>
              <a:endPara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08255" y="2315345"/>
            <a:ext cx="8528050" cy="19380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indent="647065" defTabSz="914400">
              <a:lnSpc>
                <a:spcPts val="3600"/>
              </a:lnSpc>
              <a:buClrTx/>
              <a:buSzTx/>
              <a:buFontTx/>
              <a:buNone/>
              <a:defRPr/>
            </a:pPr>
            <a:r>
              <a:rPr kumimoji="0" lang="zh-CN" sz="2400" kern="1200" cap="none" spc="0" normalizeH="0" baseline="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有些公共场所安装了自动门，人靠近，门会自动打开。请你</a:t>
            </a:r>
            <a:r>
              <a:rPr lang="zh-CN" sz="240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分析它的输入、输出分别是什么，把答案填在横线上。另外，你能想到它是通过什么设备获取输入信号的吗？</a:t>
            </a:r>
            <a:endParaRPr kumimoji="0" lang="zh-CN" sz="2400" kern="1200" cap="none" spc="0" normalizeH="0" baseline="0" noProof="0" dirty="0">
              <a:solidFill>
                <a:schemeClr val="tx1">
                  <a:lumMod val="85000"/>
                  <a:lumOff val="1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R="0" indent="647065" defTabSz="914400">
              <a:lnSpc>
                <a:spcPts val="3600"/>
              </a:lnSpc>
              <a:buClrTx/>
              <a:buSzTx/>
              <a:buFontTx/>
              <a:buNone/>
              <a:defRPr/>
            </a:pPr>
            <a:endParaRPr kumimoji="0" lang="zh-CN" sz="2400" kern="1200" cap="none" spc="0" normalizeH="0" baseline="0" noProof="0" dirty="0">
              <a:solidFill>
                <a:schemeClr val="tx1">
                  <a:lumMod val="85000"/>
                  <a:lumOff val="1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055688" y="1460037"/>
            <a:ext cx="10080625" cy="1006475"/>
          </a:xfrm>
          <a:prstGeom prst="rect">
            <a:avLst/>
          </a:prstGeom>
        </p:spPr>
        <p:txBody>
          <a:bodyPr/>
          <a:lstStyle/>
          <a:p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鸣  谢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7"/>
          <p:cNvSpPr txBox="1"/>
          <p:nvPr/>
        </p:nvSpPr>
        <p:spPr>
          <a:xfrm>
            <a:off x="1083261" y="2543130"/>
            <a:ext cx="10160199" cy="2851084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ts val="2800"/>
              </a:lnSpc>
            </a:pPr>
            <a:r>
              <a:rPr lang="zh-CN" altLang="en-US" dirty="0">
                <a:solidFill>
                  <a:schemeClr val="bg1"/>
                </a:solidFill>
              </a:rPr>
              <a:t>教学设计与指导</a:t>
            </a:r>
            <a:endParaRPr lang="en-US" altLang="zh-CN" dirty="0">
              <a:solidFill>
                <a:schemeClr val="bg1"/>
              </a:solidFill>
            </a:endParaRPr>
          </a:p>
          <a:p>
            <a:pPr marL="0" indent="0">
              <a:lnSpc>
                <a:spcPts val="2800"/>
              </a:lnSpc>
              <a:buFont typeface="Arial" panose="020B060402020209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谢忠新 张杨旭 张汶</a:t>
            </a:r>
            <a:endParaRPr lang="en-US" altLang="zh-CN" sz="24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lnSpc>
                <a:spcPts val="2800"/>
              </a:lnSpc>
              <a:buFont typeface="Arial" panose="020B0604020202090204" pitchFamily="34" charset="0"/>
              <a:buNone/>
            </a:pPr>
            <a:endParaRPr lang="en-US" altLang="zh-CN" sz="2400" dirty="0">
              <a:solidFill>
                <a:schemeClr val="bg1"/>
              </a:solidFill>
              <a:latin typeface="宋体" pitchFamily="2" charset="-122"/>
              <a:ea typeface="宋体" pitchFamily="2" charset="-122"/>
            </a:endParaRPr>
          </a:p>
          <a:p>
            <a:pPr marL="0">
              <a:lnSpc>
                <a:spcPts val="2800"/>
              </a:lnSpc>
            </a:pPr>
            <a:r>
              <a:rPr lang="zh-CN" altLang="en-US" dirty="0">
                <a:solidFill>
                  <a:schemeClr val="bg1"/>
                </a:solidFill>
              </a:rPr>
              <a:t>资源与技术支持</a:t>
            </a:r>
            <a:endParaRPr lang="en-US" altLang="zh-CN" dirty="0">
              <a:solidFill>
                <a:schemeClr val="bg1"/>
              </a:solidFill>
            </a:endParaRPr>
          </a:p>
          <a:p>
            <a:pPr marL="0" indent="0">
              <a:lnSpc>
                <a:spcPts val="28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李小维 杨文胡</a:t>
            </a:r>
            <a:endParaRPr lang="en-US" altLang="zh-CN" dirty="0">
              <a:solidFill>
                <a:schemeClr val="bg1"/>
              </a:solidFill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055688" y="1460037"/>
            <a:ext cx="10080625" cy="1006475"/>
          </a:xfrm>
          <a:prstGeom prst="rect">
            <a:avLst/>
          </a:prstGeom>
        </p:spPr>
        <p:txBody>
          <a:bodyPr/>
          <a:lstStyle/>
          <a:p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  明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7"/>
          <p:cNvSpPr txBox="1"/>
          <p:nvPr/>
        </p:nvSpPr>
        <p:spPr>
          <a:xfrm>
            <a:off x="800100" y="2243776"/>
            <a:ext cx="10336212" cy="3350448"/>
          </a:xfr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20090" algn="just">
              <a:buFont typeface="Arial" panose="020B0604020202090204" pitchFamily="34" charset="0"/>
              <a:buNone/>
            </a:pPr>
            <a:r>
              <a:rPr lang="zh-CN" altLang="zh-CN" sz="2600" kern="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上海市中小学在线视频课中部分图片、视频、音乐、文章等作品来源于相关专著、网络资源等，已努力查询并标注来源，但未免有疏漏之处。如存在个别未标注的情形，敬请谅解！</a:t>
            </a:r>
            <a:endParaRPr lang="en-US" altLang="zh-CN" sz="2600" kern="1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503050405090304" pitchFamily="18" charset="0"/>
            </a:endParaRPr>
          </a:p>
          <a:p>
            <a:pPr indent="720090" algn="just">
              <a:buFont typeface="Arial" panose="020B0604020202090204" pitchFamily="34" charset="0"/>
              <a:buNone/>
            </a:pPr>
            <a:r>
              <a:rPr lang="zh-CN" altLang="zh-CN" sz="2600" kern="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本课所有相关原创课件、资源与视频等，除法律另有规定之外，任何单位和个人未经版权单位授权不得使用。</a:t>
            </a:r>
            <a:endParaRPr lang="zh-CN" altLang="zh-CN" sz="2600" kern="1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055688" y="1460037"/>
            <a:ext cx="10080625" cy="1006475"/>
          </a:xfrm>
          <a:prstGeom prst="rect">
            <a:avLst/>
          </a:prstGeom>
        </p:spPr>
        <p:txBody>
          <a:bodyPr/>
          <a:lstStyle/>
          <a:p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  制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7"/>
          <p:cNvSpPr txBox="1"/>
          <p:nvPr/>
        </p:nvSpPr>
        <p:spPr>
          <a:xfrm>
            <a:off x="694179" y="3576617"/>
            <a:ext cx="10448240" cy="1191326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00"/>
              </a:lnSpc>
              <a:buFont typeface="Arial" panose="020B0604020202090204" pitchFamily="34" charset="0"/>
              <a:buNone/>
            </a:pPr>
            <a:r>
              <a:rPr lang="zh-CN" altLang="en-US" b="1" dirty="0">
                <a:latin typeface="+mn-ea"/>
                <a:sym typeface="Wingdings" panose="05000000000000000000" pitchFamily="2" charset="2"/>
              </a:rPr>
              <a:t> </a:t>
            </a:r>
            <a:endParaRPr lang="en-US" altLang="zh-CN" sz="3200" b="1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0" indent="0" algn="ctr">
              <a:lnSpc>
                <a:spcPts val="2800"/>
              </a:lnSpc>
              <a:buFont typeface="Arial" panose="020B0604020202090204" pitchFamily="34" charset="0"/>
              <a:buNone/>
            </a:pPr>
            <a:r>
              <a:rPr lang="zh-CN" altLang="en-US" sz="3200" b="1" dirty="0">
                <a:solidFill>
                  <a:schemeClr val="bg1"/>
                </a:solidFill>
                <a:sym typeface="Wingdings" panose="05000000000000000000" pitchFamily="2" charset="2"/>
              </a:rPr>
              <a:t>徐汇区教育学院</a:t>
            </a:r>
            <a:endParaRPr lang="zh-CN" altLang="zh-CN" sz="3200" b="1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71854" y="4586774"/>
            <a:ext cx="609289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3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2024</a:t>
            </a:r>
            <a:r>
              <a:rPr lang="zh-CN" altLang="en-US" sz="3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3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3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endParaRPr lang="en-US" altLang="zh-CN" sz="32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sym typeface="Wingdings" panose="05000000000000000000" pitchFamily="2" charset="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224" y="2442130"/>
            <a:ext cx="4248150" cy="12001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2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3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4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5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6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7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8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10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11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12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15.xml><?xml version="1.0" encoding="utf-8"?>
<p:tagLst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16.xml><?xml version="1.0" encoding="utf-8"?>
<p:tagLst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17.xml><?xml version="1.0" encoding="utf-8"?>
<p:tagLst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29.xml><?xml version="1.0" encoding="utf-8"?>
<p:tagLst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30.xml><?xml version="1.0" encoding="utf-8"?>
<p:tagLst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31.xml><?xml version="1.0" encoding="utf-8"?>
<p:tagLst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66.xml><?xml version="1.0" encoding="utf-8"?>
<p:tagLst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67.xml><?xml version="1.0" encoding="utf-8"?>
<p:tagLst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68.xml><?xml version="1.0" encoding="utf-8"?>
<p:tagLst xmlns:p="http://schemas.openxmlformats.org/presentationml/2006/main">
  <p:tag name="KSO_WM_DIAGRAM_VIRTUALLY_FRAME" val="{&quot;height&quot;:235.05000000000004,&quot;left&quot;:336.5895275590551,&quot;top&quot;:184.9707874015748,&quot;width&quot;:320.05}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88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89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0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1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2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3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4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5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6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7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8.xml><?xml version="1.0" encoding="utf-8"?>
<p:tagLst xmlns:p="http://schemas.openxmlformats.org/presentationml/2006/main">
  <p:tag name="KSO_WM_DIAGRAM_VIRTUALLY_FRAME" val="{&quot;height&quot;:251.0086614173228,&quot;left&quot;:149.9304724409449,&quot;top&quot;:152.2,&quot;width&quot;:492.6}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COMMONDATA" val="eyJoZGlkIjoiZTJhMzRhMzI1MmU4OWNjYzU4NTM5YmZiMTBhYjA1MD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1598</Words>
  <Application>WPS 文字</Application>
  <PresentationFormat>宽屏</PresentationFormat>
  <Paragraphs>407</Paragraphs>
  <Slides>30</Slides>
  <Notes>30</Notes>
  <HiddenSlides>0</HiddenSlides>
  <MMClips>37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51" baseType="lpstr">
      <vt:lpstr>Arial</vt:lpstr>
      <vt:lpstr>宋体</vt:lpstr>
      <vt:lpstr>Wingdings</vt:lpstr>
      <vt:lpstr>黑体</vt:lpstr>
      <vt:lpstr>黑体-简</vt:lpstr>
      <vt:lpstr>华文楷体</vt:lpstr>
      <vt:lpstr>Calibri</vt:lpstr>
      <vt:lpstr>Helvetica Neue</vt:lpstr>
      <vt:lpstr>宋体-简</vt:lpstr>
      <vt:lpstr>微软雅黑</vt:lpstr>
      <vt:lpstr>汉仪旗黑</vt:lpstr>
      <vt:lpstr>Times New Roman</vt:lpstr>
      <vt:lpstr>等线</vt:lpstr>
      <vt:lpstr>苹方-简</vt:lpstr>
      <vt:lpstr>楷体</vt:lpstr>
      <vt:lpstr>宋体</vt:lpstr>
      <vt:lpstr>Arial Unicode MS</vt:lpstr>
      <vt:lpstr>方正楷体简体</vt:lpstr>
      <vt:lpstr>汉仪楷体简</vt:lpstr>
      <vt:lpstr>楷体-简</vt:lpstr>
      <vt:lpstr>Office 主题</vt:lpstr>
      <vt:lpstr>输入输出与计算</vt:lpstr>
      <vt:lpstr>输入输出与计算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输入输出与计算</vt:lpstr>
      <vt:lpstr>PowerPoint 演示文稿</vt:lpstr>
      <vt:lpstr>鸣  谢</vt:lpstr>
      <vt:lpstr>声  明</vt:lpstr>
      <vt:lpstr>监  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张心诚</dc:creator>
  <cp:lastModifiedBy>WPS_1605839345</cp:lastModifiedBy>
  <cp:revision>207</cp:revision>
  <dcterms:created xsi:type="dcterms:W3CDTF">2024-08-31T07:10:21Z</dcterms:created>
  <dcterms:modified xsi:type="dcterms:W3CDTF">2024-08-31T07:10:21Z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FBAA1909E3C64509AF5CAA1A0E105EE3_12</vt:lpwstr>
  </property>
  <property fmtid="{D5CDD505-2E9C-101B-9397-08002B2CF9AE}" pid="3" name="KSOProductBuildVer">
    <vt:lpwstr>2052-6.10.1.8873</vt:lpwstr>
  </property>
</Properties>
</file>